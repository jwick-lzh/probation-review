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920750"/>
            <a:ext cx="12373864" cy="1092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b="1" i="0" u="none" spc="240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转正述职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2032000"/>
            <a:ext cx="76911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林灶辉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500" y="2032000"/>
            <a:ext cx="2523581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　战略经营部　2026-10-27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2343150"/>
            <a:ext cx="1187602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AI 创新助理　试用期 2026-07-21 至 2027-01-21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3403600"/>
            <a:ext cx="12069064" cy="546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30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今天讲三件事：做了什么、没做到什么、接下来怎么做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5975350"/>
            <a:ext cx="1186586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来源：转正述职报告；试用期 2026-07-21 至 2027-01-21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三个月上线 4 个工具，14 项指标 4 项达到基线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每项指标分基线和超预期两档，这里只按基线算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0388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来源：上线日期取 git 和应用版本记录；指标取试用期目标跟踪表 9-30 版，10 月没回填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CE261E"/>
                </a:solidFill>
                <a:latin typeface="PingFang SC"/>
                <a:ea typeface="PingFang SC"/>
                <a:cs typeface="PingFang SC"/>
              </a:rPr>
              <a:t>没做到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387600"/>
            <a:ext cx="2771647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专利 AI 没启动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66571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专利 3 项指标都是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034010"/>
            <a:ext cx="2771647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星际圈运营断档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31212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9/25「AI 圈建立」节点逾期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680420"/>
            <a:ext cx="2771647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CEO 用得还少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95853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会议看板 9/30 之后没再打开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直属 CEO，做三类事，不占研发排期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从定义问题到上线迭代，都自己做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" y="2146300"/>
            <a:ext cx="623252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149600"/>
            <a:ext cx="820419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林灶辉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3184525"/>
            <a:ext cx="1841055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AI 创新助理　战略经营部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4305300"/>
            <a:ext cx="275844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00" y="4508500"/>
            <a:ext cx="2799079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给 CEO 做提效工具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100" y="4843760"/>
            <a:ext cx="27787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会议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5079900"/>
            <a:ext cx="27787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100" y="5316041"/>
            <a:ext cx="27787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3600" y="4305300"/>
            <a:ext cx="275844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业务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3600" y="4508500"/>
            <a:ext cx="2799079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给业务做 AI 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3600" y="4843760"/>
            <a:ext cx="27787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VOC 评论分析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4100" y="4305300"/>
            <a:ext cx="275844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公司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4100" y="4508500"/>
            <a:ext cx="2799079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给公司做 AI 的底座和方法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4100" y="4843760"/>
            <a:ext cx="27787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4100" y="5079900"/>
            <a:ext cx="27787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指标方法论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4100" y="5316041"/>
            <a:ext cx="27787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组件库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4100" y="5552182"/>
            <a:ext cx="27787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星际圈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100" y="60388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来源：试用期目标跟踪表（7/30 定稿）；职位 AI 创新助理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岗位从哪来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1300" y="23304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入职当周 CEO 提了 4 项需求，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1300" y="25665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7/30 定成 5 个目标、14 项指标。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1300" y="306943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公司要求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1300" y="33234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试用期 5 个目标、14 项指标，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1300" y="35595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每项分基线和超预期两档。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5 个目标里，VOC 一项占 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7/30 定了 5 个目标、14 项指标；VOC、CEO 提效、场景挖掘三项合计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0134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来源：试用期目标跟踪表（7/30 定稿，9-30 最后回填）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为什么是这 5 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330450"/>
            <a:ext cx="2425700" cy="6945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822"/>
              </a:lnSpc>
            </a:pPr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入职当周 CEO 提了 4 项需求：VOC、知识产权创新、个人效率、语音 AI 评估。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31277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7/30 和 AI 推广一起定成 5 个目标。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630612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8846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每项指标分基线和超预期两档，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41207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今天按基线算。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8/16 当天，用飞书 AI 的人不到 14%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定完目标后的第一次摸底；单日数据，和下一页的诊断数（近 7 个工作日口径）不是一个数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367859"/>
            <a:ext cx="8107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来源：飞书管理后台「AI 使用数据」截图，8/16 单日（每日记录 8/17 段）；红框为本页所加；截图中人名已换成岗位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00250"/>
            <a:ext cx="2954528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13.68%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5792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8/16 当天的渗透率，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8154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179 人用过飞书 AI。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31827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年度额度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7373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618 万点，到 8/17 只用了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9735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68.35 万点（11%）。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4476353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7303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工具买了，用的人少。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9664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这印证了场景挖掘和星际圈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5202634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两项要做。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9 月渗透率 24.2%，10/23 日活 692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都出自飞书客户成功的诊断报告：9 月版给了渗透率；10/23 更新版给了日活，没再给渗透率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286103"/>
            <a:ext cx="8107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来源：《Usmile 飞书使用诊断与 AI 场景运营计划》「AI 用量总结」，数据截至 2026.10.23；红框为本页所加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00250"/>
            <a:ext cx="2954528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24.2%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5792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9 月版：257 / 1,061 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8154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口径是近 7 个工作日内，在任一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0515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飞书 AI 产品上有用量的人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2877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（9/23 对齐会飞书方原话）。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688953"/>
            <a:ext cx="2954528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692</a:t>
            </a:r>
            <a:r>
              <a:rPr sz="1600" b="1" i="0" u="none" spc="-32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 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42679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10/23 更新版（左图）：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504134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近 7 个工作日 AI 日活，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740275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原文没再给渗透率。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5243115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1300" y="5497115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和上一页 8/16 的单日渗透率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1300" y="5733256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不是一个数，两页的数不能比。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14 项指标，4 项达到基线，4 项还没开始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5 个目标下 14 项考核指标的完成度，按基线档计；没完成的排在前面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3309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来源：试用期目标跟踪表 9-30 版，10 月没回填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怎么读这张图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每行一项指标，按 5 个目标分组。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点越靠右，完成度越高；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7646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虚线是基线，到线就算达到。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0896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空心圈是没有数据，不是 0。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92512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8465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完成度取试用期目标跟踪表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0826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9-30 版，10 月没回填。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4076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每项分基线和超预期两档，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643834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这里只按基线算。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1300" y="4968875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「</a:t>
            </a:r>
            <a:r>
              <a:rPr sz="1200" b="0" i="0" u="none">
                <a:solidFill>
                  <a:srgbClr val="1D3D63"/>
                </a:solidFill>
                <a:latin typeface="Helvetica Neue"/>
                <a:ea typeface="PingFang SC"/>
                <a:cs typeface="Helvetica Neue"/>
              </a:rPr>
              <a:t>≥</a:t>
            </a:r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3 个场景在用」现在是 1 / 3，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1300" y="5217715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按三分之一画。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VOC 上线了，业务场景只有 1 个在用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权重 40%，最高的一项；3 项指标都还在进行中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0896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来源：完成度取试用期目标跟踪表 9-30 版；部署次数取 VOC 生产部署记录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数据源：7 个渠道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1800" y="2698750"/>
            <a:ext cx="83151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打通 4 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1800" y="2934890"/>
            <a:ext cx="186214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亚马逊靠 RPA 部分打通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1800" y="3171031"/>
            <a:ext cx="99610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没打通 2 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47067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来源：10/10《Voc数据打通确认》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93422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接下来（计划）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418822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11/8 正式上线；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42436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场景补到 3 个，日期待定。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oc-sho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23" y="2025650"/>
            <a:ext cx="7115553" cy="41490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Y30 诊断看板，9/21 交给了业务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VOC 现在唯一在用的业务场景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6365180"/>
            <a:ext cx="786079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来源：述职报告截图，VOC「AI 总览分析」页，型号 Y30，全部时间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看什么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3304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Y30 的评论里，功能点按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5665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复购驱动、潜力复购、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28027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品牌流失、无感功能分开。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30557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10 月的变化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5595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10/21 V2.0 系统瘦身；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37957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10/23 矩阵判定规则改成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0318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界面上可调。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534693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截图里的数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1300" y="47886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19 个功能点落进四栏，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1300" y="5024834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另有 20 个没落格。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oc-sh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66" y="2025650"/>
            <a:ext cx="7336666" cy="31956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竞品对比 9/24 发出，还在测试环境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同一个时间窗里，把 Y30 和竞品放在一起看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5411787"/>
            <a:ext cx="8107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来源：述职报告截图，VOC「竞品对比」页，Y30 对徕芬 TB01，2026-06-01 至 07-01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看什么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3304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差评率、评分、差评落在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5665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哪些功能点，两边并排。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06943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怎么比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3234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最多 4 列，所有列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5595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共用一个时间窗。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062412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截图里的数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3164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竞品这一列有星级的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5525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只有 14 条，样本小。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CEO 日历上 5 个月 635 场会，现在能一场场看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5/24–10/21 共 534.9 小时；「</a:t>
            </a:r>
            <a:r>
              <a:rPr sz="1200" b="0" i="0" u="none">
                <a:solidFill>
                  <a:srgbClr val="1D3D63"/>
                </a:solidFill>
                <a:latin typeface="Helvetica Neue"/>
                <a:ea typeface="PingFang SC"/>
                <a:cs typeface="Helvetica Neue"/>
              </a:rPr>
              <a:t>≥</a:t>
            </a:r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 个 CEO 场景落地」这一项达到基线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59880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来源：CEO 会议看板线上库，只读查询，截至 10-25；会议取 CEO 日历 5/24–10/21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以前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3304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会开得怎样、待办有没有落地，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665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没地方看。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06943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3234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日历同步进 CEO 会议看板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595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（10/1 换成 v2.0），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7957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355 场有了星级。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298553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会后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5525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007 会议助手 9/23 发布：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7886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会后提待办、双周提醒。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oking-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84" y="2025650"/>
            <a:ext cx="5000730" cy="40310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会前评审、约会、会后打分，已连成一个闭环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用智能体把三步连起来，减少业务助理开会前的准备工作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6247209"/>
            <a:ext cx="55702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来源：业务助理自己搭的约会工作台「和 007 约会请填写」，10/26 截图；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6437709"/>
            <a:ext cx="55702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截图中人名已换成岗位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顺带的变化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3304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业务助理更熟练地用 AI，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25665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开始搭自己的业务工作台。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06943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左图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3234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约 007 之前先填目标、议题、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35595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分工和材料；总助确认后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37957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发飞书日程，会后要出结果。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eedback-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82" y="2025650"/>
            <a:ext cx="5267035" cy="4147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双周汇报 4 期 105 份，都在一个系统里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工作反馈系统，9/23 V1.0 上线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6363890"/>
            <a:ext cx="8107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图：述职报告截图，「提交情况」页第 2 期，姓名已打码；右侧数字取工作反馈系统线上库，版本取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000250"/>
            <a:ext cx="2954528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105</a:t>
            </a:r>
            <a:r>
              <a:rPr sz="1600" b="1" i="0" u="none" spc="-32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 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792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双周汇报 4 期，名单 26 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08213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3361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9/23 V1.0 到 10/24 V2.11，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722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20 个版本、135 次发布。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4075112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3291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10/22 CEO 上午提年度和人员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5652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筛选，下午交付；10/19 加了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8013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时间管理模块。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ventory-p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1" y="4146550"/>
            <a:ext cx="7320497" cy="20508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场景挖掘的 3 项基线全部达到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识别场景、出方案、做 PoC，三项都到了基线档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1943100"/>
            <a:ext cx="2986968" cy="514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5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2608560"/>
            <a:ext cx="282440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识别 </a:t>
            </a:r>
            <a:r>
              <a:rPr sz="1200" b="1" i="0" u="none">
                <a:solidFill>
                  <a:srgbClr val="0B2545"/>
                </a:solidFill>
                <a:latin typeface="Helvetica Neue"/>
                <a:ea typeface="PingFang SC"/>
                <a:cs typeface="Helvetica Neue"/>
              </a:rPr>
              <a:t>≥</a:t>
            </a:r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5 个场景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2881610"/>
            <a:ext cx="281424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供应商模具周期管理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00" y="3091160"/>
            <a:ext cx="281424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AI 辅助 3D 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100" y="3300710"/>
            <a:ext cx="281424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飞书使用诊断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3510260"/>
            <a:ext cx="281424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AI 兴趣活动　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100" y="3719810"/>
            <a:ext cx="281424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第 4 期汇报列到 9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2367" y="1943100"/>
            <a:ext cx="2987075" cy="514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3 /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2367" y="2608560"/>
            <a:ext cx="282451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B2545"/>
                </a:solidFill>
                <a:latin typeface="Helvetica Neue"/>
                <a:ea typeface="PingFang SC"/>
                <a:cs typeface="Helvetica Neue"/>
              </a:rPr>
              <a:t>≥</a:t>
            </a:r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3 个可执行方案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2367" y="2881610"/>
            <a:ext cx="2814355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GTM 三步走 MVP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2367" y="3091160"/>
            <a:ext cx="2814355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3D 内容实测建议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2367" y="3300710"/>
            <a:ext cx="2814355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AI 兴趣活动方案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1733" y="1943100"/>
            <a:ext cx="2986968" cy="514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1 /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1733" y="2608560"/>
            <a:ext cx="282440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B2545"/>
                </a:solidFill>
                <a:latin typeface="Helvetica Neue"/>
                <a:ea typeface="PingFang SC"/>
                <a:cs typeface="Helvetica Neue"/>
              </a:rPr>
              <a:t>≥</a:t>
            </a:r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1 个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1733" y="2881610"/>
            <a:ext cx="281424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美区库存看板（下图）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100" y="6387901"/>
            <a:ext cx="8107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来源：美区库存看板（PoC），双周汇报第 2 期截图；完成度取试用期目标跟踪表 9-30 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PoC 是什么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1300" y="23304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美区库存看板，用多维表格做，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1300" y="25665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定时自动同步，同步时间见图。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1300" y="306943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1300" y="33234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按目标跟踪表 9-30 版的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1300" y="35595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基线档计；识别的场景，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1300" y="37957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第 4 期汇报列到 9 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专利 AI 没启动，星际圈运营断档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专利 3 项指标都是 0；星际圈内容现在 12+ 篇，成员数还没统计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57975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来源：完成度取试用期目标跟踪表 9-30 版；12+ 篇是 10 月的数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764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原因（我排的优先级）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3304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精力放在了权重 80% 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665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VOC、CEO 提效、场景挖掘上。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06943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补救（计划，日期待确认）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3234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专利 GTM 11 月启动；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595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星际圈每双周 1 篇，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7957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成员到 30 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指标以外：一份 IT 规划，77 篇知识库文档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14 项考核指标之外的 6 项产出；点是完成或上线的日期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0007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来源：知识库主空间按创建人统计（10-26）；各项日期取述职报告「指标以外的产出」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怎么读这张图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上面 5 行，每行一项产出，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点落在完成或上线那天。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8535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最下面一行，每格是一篇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0896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知识库文档。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92512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8465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知识库按创建人统计，10-26。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1715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IT 规划是讨论稿 v2，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4076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还没批准。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-ro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2044700"/>
            <a:ext cx="68580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225425"/>
            <a:ext cx="64272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9999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8199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6399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IT 每年花约 2,700 万，做出的东西没人信、没人用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入职第一周起跟着 IT 双周会、飞书来访、9/15 Lovense 交流边看边记，归成六个现象、三个根因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6356350"/>
            <a:ext cx="755904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来源：《IT 建设规划 2026–2028》讨论稿 v2 第 1 章，图 5；对照客户 46%–73% 取飞书 9 月诊断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1981200"/>
            <a:ext cx="2913888" cy="514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约 2,700 万</a:t>
            </a:r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 每年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3107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IT 的花费；管着 60 个系统、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76721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约 30 家厂商。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24465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49865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AI 渗透率 24.2%，同规模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73479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飞书客户里最低，对照客户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397093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是 46%–73%。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29597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员工自己买 AI 工具再报销，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532114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公司付费的额度却闲着。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1300" y="5009554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1300" y="5263554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IT 规划原文第 1 章；24.2% 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1300" y="5499695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近 7 个工作日口径。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1300" y="5824735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「没人信、没人用」是判断，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1300" y="6060876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证据在原文第 1 章。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-blue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2044700"/>
            <a:ext cx="6350000" cy="412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225425"/>
            <a:ext cx="64272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9999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8199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6399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思路：IT 先当第一个客户，先治好自己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IT 自己的毛病，就是公司信息化要解的问题；主线是让「目标 → 项目 → 执行 → 结果」看得见、管得住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6369050"/>
            <a:ext cx="701040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来源：《IT 建设规划 2026–2028》讨论稿 v2 第 3 章，图 1 蓝图；全文在知识库「AI 规划」目录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先做三件事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34950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所有项目统一跟进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70381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自研系统从项目变成产品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05812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建公司自己的 Agent 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9023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买还是建，按层定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84423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通用的买；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0803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公司特有的只建一个；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31651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长尾小场景业务自己搭。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781252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1300" y="503525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IT 规划原文第 3 章；讨论稿 v2，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1300" y="527139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10/9 成稿，还没批准。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4272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9999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8199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6399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企业 AI 中台：一个门户、两条路、一份数据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这是 Agent 平台落地后员工看到的样子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1277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来源：企业 AI 中台设计记录（2026-10-13 起）；图是设计稿，不是已上线的系统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为什么自己建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业务 SOP 是公司的打法，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装进外采平台就带不走。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8535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底层基于开源搭，我们只写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0896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公司规矩和业务技能。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92512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8465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企业 AI 中台设计记录，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0826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2026-10-13 起。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三方分工，是从「需求不清、周期长」里磨出来的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9 月底到 10 月中，CEO 工作台这条线上发生的事，按日期排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1277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来源：CEO 群消息、每日记录；10/3 引语节选自群消息原文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怎么读这张图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每行一件事。右边是日期轴：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条是持续的一段，点是某一天。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03133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2853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我没有下属，团队管理这块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214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做的是协作方式。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8465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10/14 定的分工见下一页。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349353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6033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CEO 群消息、每日记录。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10/14 的分工：我负责把确认过的需求做成产品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CEO 10/14 在群里定的四步，我在第 3 步；下面是之后两周的交付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57975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来源：10/14 CEO 群消息原文；交付时间取应用发布记录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是不是分工带来的，时间还短，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下不了结论。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8535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现在当试验田在跑。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35637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6103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四步取 10/14 CEO 群消息原文；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8465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交付时间取应用发布记录。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能力外溢：身边的人用 AI 快起来了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只列看得见的行为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1150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来源：CEO 群消息、每日记录；10/20 引语为 CEO 16:14 群消息原文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怎么读这张图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左边每行一件看得见的事；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右边是日期轴，8 月到 10 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8535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最后两行没有记日期，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0896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不上日期轴。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92512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8465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「快起来了」是判断，依据只是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0826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左边这些行为，没有量化指标。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585493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8394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CEO 群消息、每日记录。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用量跟着上来：飞书 AI 年度额度用了 58.70%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整条是年度额度 618 万点，深色是到那天为止的累计用量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57467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来源：飞书管理后台（8/17）；《Usmile 飞书使用诊断与 AI 场景运营计划》（数据截至 2026.10.23）；10/21 飞书来访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「跟着上来」是判断：这是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全公司的用量，不只是身边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7646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的人用的。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26747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214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8/17 取飞书管理后台；10/23 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7576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飞书诊断报告「AI 用量总结」。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0826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「用完」是飞书方 10/21 来访时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3187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的预计，不是实测。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正在沉淀方法论：token 的大头在重读旧内容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《IT/AI 产品高效开发方法论》首页和 8 篇有初稿，计划 10/30 成文；下图是第 5 篇《怎么省 token》用的数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0007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来源：知识库《IT/AI 产品高效开发方法论》第 5 篇《怎么省 token》，按本人两个月的使用记录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怎么读这张图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上图是对数刻度，每往右一格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数大 10 倍；下图是同样三个数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7646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的普通刻度，前两个看不见。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26747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方法论现在到哪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214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9/28 CEO 把它列为最重要的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7576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产品；10/21 正文开写。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0826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先推两个 Skill：「新项目七步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3187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引导」和「业务指标校准」。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821634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1300" y="5075634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按我自己两个月的记录。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三个月 1,305 次代码提交，225 次上线发布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每月代码提交次数；7 月和 10 月都不是整月，用斜线画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58737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来源：6 个代码仓库提交记录，按作者统计，7/22–10/25；发布次数取妙搭发布记录和 VOC 生产部署记录，指本人账号操作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上线发布 225 次：妙搭 213 次，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VOC 生产部署 12 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8535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8 月打卡 259 小时，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0896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21 个工作日。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4147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次数只说明投入，不说明用得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6508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好不好，见下一页。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153693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4076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7/22–10/25，6 个仓库，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643834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按作者统计；发布指本人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1300" y="4879975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账号操作。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做出来了，CEO 用得还不多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CEO 打开两个应用的日期，9/21–10/25，一天一个点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56197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来源：CEO 会议看板、工作反馈系统线上库的访问记录，只读查询，截至 10-25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两个应用累计都是 3 人，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其中 2 人是开发者。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28535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这是下一阶段最要解决的事。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35637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6103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两个应用线上库的访问记录，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8465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只读查询，截至 10-25。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1715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工作反馈系统的记录 9/28 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4076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才有，之前画成虚线，不是 0。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问题和指标想得不够，是我最大的短板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自评：产品做出来了，但用起来还不够；没做到的排在前面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300" y="2076450"/>
            <a:ext cx="8380983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前提还是问题足够锐利清晰，其次指标选择清晰针对性强。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300" y="2419350"/>
            <a:ext cx="8380983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这两个是最困难，且一直没花时间想。反而在卷交互。」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300" y="2806700"/>
            <a:ext cx="83200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CEO 10/3 群消息原文（21:49），对我最准的提醒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3187700"/>
            <a:ext cx="152400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4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对照预期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3100" y="3187700"/>
            <a:ext cx="323850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4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187700"/>
            <a:ext cx="41986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4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3511550"/>
            <a:ext cx="15443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CE261E"/>
                </a:solidFill>
                <a:latin typeface="PingFang SC"/>
                <a:ea typeface="PingFang SC"/>
                <a:cs typeface="PingFang SC"/>
              </a:rPr>
              <a:t>不符合预期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3100" y="3505200"/>
            <a:ext cx="3268979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CEO 用得少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05200"/>
            <a:ext cx="4218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会议看板 9/30 之后没再打开；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721596"/>
            <a:ext cx="4218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工作反馈系统 6 天打开 14 次，最后一次 10/22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100" y="4064992"/>
            <a:ext cx="15443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CE261E"/>
                </a:solidFill>
                <a:latin typeface="PingFang SC"/>
                <a:ea typeface="PingFang SC"/>
                <a:cs typeface="PingFang SC"/>
              </a:rPr>
              <a:t>不符合预期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3100" y="4058642"/>
            <a:ext cx="3268979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专利 AI 为 0，星际圈断档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058642"/>
            <a:ext cx="4218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目标跟踪表 9-30 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100" y="4414242"/>
            <a:ext cx="15443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CE261E"/>
                </a:solidFill>
                <a:latin typeface="PingFang SC"/>
                <a:ea typeface="PingFang SC"/>
                <a:cs typeface="PingFang SC"/>
              </a:rPr>
              <a:t>不符合预期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3100" y="4407892"/>
            <a:ext cx="3268979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跟进不及时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407892"/>
            <a:ext cx="4218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奖金立项 10/13 到期未完成；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624288"/>
            <a:ext cx="4218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目标表 9-30 后、进度表 10-10 后都没更新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100" y="4967684"/>
            <a:ext cx="15443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符合预期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43100" y="4961334"/>
            <a:ext cx="3268979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产品上线并持续迭代，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3100" y="5189140"/>
            <a:ext cx="3268979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需求当天响应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961334"/>
            <a:ext cx="4218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工作反馈系统一个月 20 个版本；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177730"/>
            <a:ext cx="4218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10/22 当天交付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100" y="5543946"/>
            <a:ext cx="15443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符合预期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3100" y="5537596"/>
            <a:ext cx="3268979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0B2545"/>
                </a:solidFill>
                <a:latin typeface="PingFang SC"/>
                <a:ea typeface="PingFang SC"/>
                <a:cs typeface="PingFang SC"/>
              </a:rPr>
              <a:t>场景挖掘 3 项基线全部达到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537596"/>
            <a:ext cx="4218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目标跟踪表 9-30 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100" y="6045596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来源：CEO 10/3 群消息；试用期目标跟踪表 9-30 版；飞书任务；两个应用的访问记录（截至 10-25）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改进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每个产品先写清「解决谁的什么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问题、用什么数衡量」，再做界面。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1300" y="28535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每个产品定一个使用指标，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1300" y="30896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在双周汇报里报。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1300" y="34147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目标表和进度表跟双周汇报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1300" y="36508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一起回填。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1300" y="4153693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1300" y="44076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引语是 CEO 10/3 群消息原文；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1300" y="4643834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奖金立项逾期取飞书任务。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850900"/>
            <a:ext cx="12130024" cy="660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36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后三个月的计划：从做出来，转到用起来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1494730"/>
            <a:ext cx="118861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下面全部是计划，不是已完成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6127750"/>
            <a:ext cx="86563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来源：阶段取试用期目标跟踪表里程碑 M4–M6；上线日期取第 4 期双周汇报。全部是计划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038350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怎么读这张图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229235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虚线条和空心标记都是计划，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528490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还没发生。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031331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用起来怎么算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328533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CEO 工作台：目标使用者连续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3521471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两周每周至少打开 1 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3846512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每个模块定一个使用指标。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1300" y="4349353"/>
            <a:ext cx="2731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80">
                <a:solidFill>
                  <a:srgbClr val="5B6B7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460335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「待确认」是日期还没定，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300" y="4839493"/>
            <a:ext cx="275132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D3D63"/>
                </a:solidFill>
                <a:latin typeface="PingFang SC"/>
                <a:ea typeface="PingFang SC"/>
                <a:cs typeface="PingFang SC"/>
              </a:rPr>
              <a:t>原文就是这样写的。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14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96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目标回顾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780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0" y="225425"/>
            <a:ext cx="6370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IT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47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团队管理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9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自我评价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1140" y="225425"/>
            <a:ext cx="76606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760" y="234950"/>
            <a:ext cx="143623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C9D3E0"/>
                </a:solidFill>
                <a:latin typeface="PingFang SC"/>
                <a:ea typeface="PingFang SC"/>
                <a:cs typeface="PingFang SC"/>
              </a:rPr>
              <a:t>数据截至 2026-10-26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3152179"/>
            <a:ext cx="8650882" cy="1244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800" b="1" i="0" u="none" spc="408">
                <a:solidFill>
                  <a:srgbClr val="0B2545"/>
                </a:solidFill>
                <a:latin typeface="Songti SC"/>
                <a:ea typeface="Songti SC"/>
                <a:cs typeface="Songti SC"/>
              </a:rPr>
              <a:t>善战者无赫赫之功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