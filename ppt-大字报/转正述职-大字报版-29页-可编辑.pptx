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60350"/>
            <a:ext cx="2114101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12435" y="508000"/>
            <a:ext cx="294828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 spc="2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林灶辉　战略经营部　2026-10-27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-233064"/>
            <a:ext cx="8577187" cy="6915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5000" b="1" i="0" u="none" spc="-180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1169689"/>
            <a:ext cx="1345184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今天讲三件事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1689100"/>
            <a:ext cx="8026400" cy="863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600" b="1" i="0" u="none" spc="-5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做了什么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3098800"/>
            <a:ext cx="8026400" cy="863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600" b="1" i="0" u="none" spc="-5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没做到什么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4508500"/>
            <a:ext cx="8026400" cy="863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600" b="1" i="0" u="none" spc="-5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接下来怎么做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039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职位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9563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创新助理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325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战略经营部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5803900"/>
            <a:ext cx="865632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试用期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0" y="6280150"/>
            <a:ext cx="160989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2026-07-21 开始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2583" y="6280150"/>
            <a:ext cx="210206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2026-10-27 述职，过半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51678" y="6280150"/>
            <a:ext cx="160989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2027-01-21 期满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8382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一句话结论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-323453"/>
            <a:ext cx="9501635" cy="5162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3600" b="1" i="0" u="none" spc="-1344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13440" b="1" i="0" u="none" spc="-403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/</a:t>
            </a:r>
            <a:r>
              <a:rPr sz="13440" b="1" i="0" u="none" spc="-403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3440" b="1" i="0" u="none" spc="-403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0" y="7112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没做到的三件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047750"/>
            <a:ext cx="449275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 AI 没启动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1336278"/>
            <a:ext cx="449275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星际圈运营断档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1624806"/>
            <a:ext cx="449275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用得还少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13200"/>
            <a:ext cx="605330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三个月上线 4 个工具，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16040"/>
            <a:ext cx="605330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14 项指标 4 项达到基线。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848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上线工具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5372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134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VOC、工作反馈系统、会议看板、007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06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进行中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VOC 3 项、星际圈 2 项、CEO 提效 1 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38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没开始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38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专利 3 项、星际圈成员数 1 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70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代码提交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1,305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7/22–10/25，6 个仓库，按作者统计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口径：上线日期取 git 和应用版本记录；指标取目标跟踪表 9-30 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一、岗位定位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550" y="-90685"/>
            <a:ext cx="5356121" cy="4305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0" b="1" i="0" u="none" spc="-11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1009650"/>
            <a:ext cx="13594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部门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84800" y="971550"/>
            <a:ext cx="68864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战略经营部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0" y="1559520"/>
            <a:ext cx="13594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84800" y="1521420"/>
            <a:ext cx="68864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从定义问题到上线迭代都自己做，不占研发排期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0" y="2109390"/>
            <a:ext cx="13594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岗位从哪来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4800" y="2071290"/>
            <a:ext cx="68864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入职当周 CEO 提了 4 项需求，7/30 定成 5 个目标、14 项指标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81400"/>
            <a:ext cx="6546838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直属 CEO，做三类事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794250"/>
            <a:ext cx="3923791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给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071070"/>
            <a:ext cx="4106672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提效工具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65646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会议、汇报、时间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0400" y="4794250"/>
            <a:ext cx="3704336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给业务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400" y="5071070"/>
            <a:ext cx="3887216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5656460"/>
            <a:ext cx="36840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VOC 评论分析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794250"/>
            <a:ext cx="3704336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给公司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5071070"/>
            <a:ext cx="3887216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的底座和方法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5656460"/>
            <a:ext cx="36840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IT 规划、指标方法论、组件库、星际圈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口径：试用期目标跟踪表（7/30 定稿）；职位 AI 创新助理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二、目标回顾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-30261"/>
            <a:ext cx="8801270" cy="399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6000" b="1" i="0" u="none" spc="-10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26000" b="1" i="0" u="none" spc="-10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3000" b="1" i="0" u="none" spc="-2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1009650"/>
            <a:ext cx="10850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定稿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0" y="971550"/>
            <a:ext cx="419811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7/30 定了 5 个目标、14 项指标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1559520"/>
            <a:ext cx="10850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怎么算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4000" y="1521420"/>
            <a:ext cx="419811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每项分基线和超预期两档，今天按基线算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2109390"/>
            <a:ext cx="10850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从哪来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0" y="2071290"/>
            <a:ext cx="419811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入职当周 CEO 提的 4 项需求，加上 AI 推广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90900"/>
            <a:ext cx="9365476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 个目标里，VOC 一项占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0393" y="4381500"/>
            <a:ext cx="277397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VOC、CEO 提效、场景挖掘三项合计 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72050"/>
            <a:ext cx="486905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VOC 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93010"/>
            <a:ext cx="5072256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11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40</a:t>
            </a:r>
            <a:r>
              <a:rPr sz="1600" b="1" i="0" u="none" spc="-1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726410"/>
            <a:ext cx="484873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 项指标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5060" y="4972050"/>
            <a:ext cx="241110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提效工具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5060" y="5193010"/>
            <a:ext cx="2614306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11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20</a:t>
            </a:r>
            <a:r>
              <a:rPr sz="1600" b="1" i="0" u="none" spc="-1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5060" y="5726410"/>
            <a:ext cx="239078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2 项指标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640" y="4972050"/>
            <a:ext cx="241121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场景挖掘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640" y="5193010"/>
            <a:ext cx="2614414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11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20</a:t>
            </a:r>
            <a:r>
              <a:rPr sz="1600" b="1" i="0" u="none" spc="-1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4640" y="5726410"/>
            <a:ext cx="239089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 项指标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4320" y="4972050"/>
            <a:ext cx="123710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专利创新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4320" y="5193010"/>
            <a:ext cx="1440303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11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</a:t>
            </a:r>
            <a:r>
              <a:rPr sz="1600" b="1" i="0" u="none" spc="-1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4320" y="5726410"/>
            <a:ext cx="121678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 项指标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6860" y="4972050"/>
            <a:ext cx="123710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星际圈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6860" y="5193010"/>
            <a:ext cx="1440303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11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</a:t>
            </a:r>
            <a:r>
              <a:rPr sz="1600" b="1" i="0" u="none" spc="-1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6860" y="5726410"/>
            <a:ext cx="121678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 项指标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口径：目标跟踪表（7/30 定稿，9-30 最后回填）；一栏的宽度就是这个目标的权重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二、目标回顾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804271"/>
            <a:ext cx="399705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图：飞书管理后台 AI 使用数据，8/16 单日（黑框是本页的数）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0" y="838200"/>
            <a:ext cx="41026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8 月摸底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6700" y="958850"/>
            <a:ext cx="4936235" cy="135324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.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</a:t>
            </a:r>
            <a:r>
              <a:rPr sz="4400" b="1" i="0" u="none" spc="-8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2305744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单日口径：8/16 当天的渗透率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276542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8/16 当天，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319206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用飞书 AI 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0" y="3618706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不到 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4261246"/>
            <a:ext cx="412292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工具买了，用的人少。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4489846"/>
            <a:ext cx="412292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这印证了场景挖掘和星际圈两项要做。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848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用过飞书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5372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179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134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8/16 当天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年度额度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618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万点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飞书 AI 全年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已用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68.35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万点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38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截至 8/17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不能比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单日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口径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下一页的 24.2% 是近 7 个工作日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口径：飞书管理后台截图（每日记录 8/17 段）；8/16 是单日数据，和下一页 24.2%（近 7 个工作日口径）不是一个数；截图中人名已换成岗位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二、目标回顾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728170"/>
            <a:ext cx="490992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图：飞书诊断报告「AI 用量总结」，数据截至 2026.10.23（黑框是本页的数）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0" y="838200"/>
            <a:ext cx="41026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9 月诊断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6700" y="958850"/>
            <a:ext cx="4936235" cy="135324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.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  <a:r>
              <a:rPr sz="4400" b="1" i="0" u="none" spc="-8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2305744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近 7 个工作日口径：257 / 1,061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276542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 月渗透率 24.2%，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319206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10/23 日活 692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0" y="3834606"/>
            <a:ext cx="3695700" cy="4127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25"/>
              </a:lnSpc>
            </a:pPr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24.2% 算的是近 7 个工作日内，在任一飞书 AI 产品上有用量的人（9/23 对齐会飞书方原话）。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4291806"/>
            <a:ext cx="412292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左图是 10/23 更新版，原文没再给渗透率。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848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AI 日活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372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692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134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10/23 更新，近 7 个工作日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通用额度已用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58.70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362.76 万点 / 618 万点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38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渗透率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没再给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10/23 更新版原文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不能比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近 7 个工作日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上一页的 13.68% 是 8/16 单日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口径：《Usmile 飞书使用诊断与 AI 场景运营计划》，数据截至 2026.10.23；24.2% 的口径取 9/23 对齐会飞书方原话；和上一页 13.68%（单日）不是一个口径，不能比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5000"/>
            <a:ext cx="8547338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14 项指标，4 项达到基线，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81112"/>
            <a:ext cx="8547338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 项还没开始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43150"/>
            <a:ext cx="2501185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专利创新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91990"/>
            <a:ext cx="246054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权重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06700"/>
            <a:ext cx="1068014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991100"/>
            <a:ext cx="90545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核心能力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81600"/>
            <a:ext cx="90545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搭建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8857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8857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 个案例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8857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8214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8214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 轮优化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771" y="2343150"/>
            <a:ext cx="250129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星际圈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771" y="2591990"/>
            <a:ext cx="24606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权重 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771" y="2952750"/>
            <a:ext cx="1068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未统计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0771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30 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771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成员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128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35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128" y="3251200"/>
            <a:ext cx="88524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10 月是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128" y="3403600"/>
            <a:ext cx="88524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12+ 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128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12 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128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9485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70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9485" y="3251200"/>
            <a:ext cx="88524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有风险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9485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建圈并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9485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2042" y="2343150"/>
            <a:ext cx="2501185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VOC 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2042" y="2591990"/>
            <a:ext cx="246054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权重 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2042" y="2806700"/>
            <a:ext cx="1068014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2042" y="4991100"/>
            <a:ext cx="90545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 个场景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2042" y="5181600"/>
            <a:ext cx="90545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在用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1300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1300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 轮优化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0657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0657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核心能力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0657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上线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83214" y="2343150"/>
            <a:ext cx="1713587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提效工具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3214" y="2591990"/>
            <a:ext cx="167294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权重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3214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60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3214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 轮使用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83214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优化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2571" y="2952750"/>
            <a:ext cx="1068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达成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12571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 个场景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12571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落地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128" y="2343150"/>
            <a:ext cx="2501185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场景挖掘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5128" y="2591990"/>
            <a:ext cx="246054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权重 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128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5128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识别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5128" y="51816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 个场景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74485" y="2806700"/>
            <a:ext cx="106812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4485" y="4991100"/>
            <a:ext cx="90556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 个方案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03842" y="2806700"/>
            <a:ext cx="1068014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9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400" b="1" i="0" u="none" spc="-1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03842" y="4991100"/>
            <a:ext cx="90545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 个 PoC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" y="5448300"/>
            <a:ext cx="734492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12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4782" y="5721350"/>
            <a:ext cx="961136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项未开始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0128" y="5448300"/>
            <a:ext cx="735457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12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76203" y="5721350"/>
            <a:ext cx="961136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项进行中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2571" y="5448300"/>
            <a:ext cx="734492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12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7753" y="5721350"/>
            <a:ext cx="115316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项达到基线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350000"/>
            <a:ext cx="271579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口径：目标跟踪表 9-30 版，10 月没回填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45399" y="6350000"/>
            <a:ext cx="214111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一格 10%，按个数算的一格一个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17000" y="6350000"/>
            <a:ext cx="8382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做到的部分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2200" y="6350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没做到的部分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74400" y="6350000"/>
            <a:ext cx="70104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没有数据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" y="-151209"/>
            <a:ext cx="7248425" cy="4610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0" b="1" i="0" u="none" spc="-120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2000" b="1" i="0" u="none" spc="-3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</a:t>
            </a:r>
            <a:r>
              <a:rPr sz="12000" b="1" i="0" u="none" spc="-3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0965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在用的 1 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2400" y="97155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Y30 诊断看板</a:t>
            </a:r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，9/21 交给业务（吴程程）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952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还在测试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400" y="152142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竞品对比 9/24 发出，还在测试环境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939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权重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07129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40%，5 个目标里最高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46500"/>
            <a:ext cx="9874682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VOC 上线了，业务场景只有 1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0292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核心能力上线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1816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90</a:t>
            </a:r>
            <a:r>
              <a:rPr sz="1500" b="1" i="0" u="none" spc="-1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6705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8/11 V1.0 上线生产，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8420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共 12 次生产部署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0292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 轮优化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51816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80</a:t>
            </a:r>
            <a:r>
              <a:rPr sz="1500" b="1" i="0" u="none" spc="-1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0" y="56705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换掉 3 个指标维度、清旧数据重跑、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0" y="58420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补「防水」标签、阈值可调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50292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数据源渠道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3800" y="51816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1500" b="1" i="0" u="none" spc="-1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/7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打通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3800" y="56705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亚马逊靠 RPA 部分打通，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3800" y="58420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2 个没打通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50292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0" y="51816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11/8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正式上线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7000" y="56705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场景补到 3 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口径：完成度取目标跟踪表 9-30 版；部署次数取 VOC 生产部署记录；渠道取 10/10《Voc数据打通确认》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c-sho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34" y="749300"/>
            <a:ext cx="6857931" cy="3998813"/>
          </a:xfrm>
          <a:prstGeom prst="rect">
            <a:avLst/>
          </a:prstGeom>
          <a:ln w="6350">
            <a:solidFill>
              <a:srgbClr val="E5E5E5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25913"/>
            <a:ext cx="434456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图：VOC「AI 总览分析」页，型号 Y30，全部时间（述职报告截图）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838200"/>
            <a:ext cx="41026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VOC 在用的场景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6700" y="958850"/>
            <a:ext cx="4936235" cy="135324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2305744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交给业务（吴程程）的日期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276542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Y30 诊断看板，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0" y="319206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9/21 交给业务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3834606"/>
            <a:ext cx="412292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Y30 的功能点按四栏分：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4063206"/>
            <a:ext cx="412292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复购驱动、潜力复购、品牌流失、无感功能。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848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系统瘦身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5372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134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矩阵判定规则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界面可调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生产部署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12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38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8/11 V1.0 上线生产，共 12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竞品对比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9/24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发出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还在测试环境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口径：截图取自述职报告；部署次数取 VOC 生产部署记录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oc-sh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4" y="749299"/>
            <a:ext cx="6857851" cy="2987079"/>
          </a:xfrm>
          <a:prstGeom prst="rect">
            <a:avLst/>
          </a:prstGeom>
          <a:ln w="6350">
            <a:solidFill>
              <a:srgbClr val="E5E5E5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14179"/>
            <a:ext cx="570062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图：VOC「竞品对比」页，Y30 对徕芬 TB01，2026-06-01 至 07-01（述职报告截图）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838200"/>
            <a:ext cx="41026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VOC 第二个场景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6700" y="958850"/>
            <a:ext cx="4936235" cy="135324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2305744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竞品对比发出的日期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276542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竞品对比，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0" y="319206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还在测试环境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3834606"/>
            <a:ext cx="3695700" cy="4127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25"/>
              </a:lnSpc>
            </a:pPr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同一个时间窗里，Y30 和竞品并排比差评率、评分，看差评各自落在哪些功能点。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848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并排比较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372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134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最多 4 列，我方竞品混排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时间窗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所有列共用同一个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38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截图时间窗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2026-06-01 至 07-01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竞品样本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14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截图里竞品有星级的只有 14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口径：截图取自述职报告；9/24 发出、还在测试环境取述职报告 G1 目标表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-30261"/>
            <a:ext cx="9546756" cy="399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6000" b="1" i="0" u="none" spc="-10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</a:t>
            </a:r>
            <a:r>
              <a:rPr sz="26000" b="1" i="0" u="none" spc="-10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26000" b="1" i="0" u="none" spc="-10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850900"/>
            <a:ext cx="515112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日历上的会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1143000"/>
            <a:ext cx="51104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5/24–10/21，共 635 场、534.9 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0" y="3337520"/>
            <a:ext cx="123860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有星级 355 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9928" y="3337520"/>
            <a:ext cx="831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没有星级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7328" y="3337520"/>
            <a:ext cx="995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一格一场会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790950"/>
            <a:ext cx="10972442" cy="615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000" b="1" i="0" u="none" spc="-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5 个月开了 635 场会，现在能一场场看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657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CEO 的会议总时长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181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534.9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6070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5/24–10/21，CEO 日历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0600" y="49657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有星级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0" y="51181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355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6070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日历同步进 CEO 会议看板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3800" y="49657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007 会议助手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3800" y="51181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9/23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6070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会后提待办、双周提醒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7000" y="49657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 个 CEO 场景落地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0" y="51181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达成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6070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这一项达到基线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口径：CEO 会议看板线上库，只读查询，截至 10-25；635 场、534.9 小时都是 CEO 日历上的会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king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26" y="749300"/>
            <a:ext cx="6095947" cy="4913907"/>
          </a:xfrm>
          <a:prstGeom prst="rect">
            <a:avLst/>
          </a:prstGeom>
          <a:ln w="6350">
            <a:solidFill>
              <a:srgbClr val="E5E5E5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841007"/>
            <a:ext cx="442964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图：业务助理自己搭的约会工作台「和 007 约会请填写」，10/26 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4400" y="838200"/>
            <a:ext cx="481584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会议闭环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4400" y="1085850"/>
            <a:ext cx="501904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会前评审、约会、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4400" y="1512490"/>
            <a:ext cx="501904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会后打分，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4400" y="1939131"/>
            <a:ext cx="501904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连成了一个闭环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4400" y="2632471"/>
            <a:ext cx="1156208" cy="673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400" b="1" i="0" u="none" spc="-17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0" y="2840732"/>
            <a:ext cx="366979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会前材料评审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4400" y="3292871"/>
            <a:ext cx="1156208" cy="673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400" b="1" i="0" u="none" spc="-17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3316982"/>
            <a:ext cx="366979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会议时间预约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3598862"/>
            <a:ext cx="36088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先填目标、议题、分工和材料，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0" y="3770312"/>
            <a:ext cx="36088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总助确认后发飞书日程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4400" y="3953271"/>
            <a:ext cx="1156208" cy="673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400" b="1" i="0" u="none" spc="-17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4161532"/>
            <a:ext cx="366979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会后自动推送打分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4400" y="4867671"/>
            <a:ext cx="483616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用智能体把这三步连起来，业务助理开会前的准备工作少了。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4400" y="5096271"/>
            <a:ext cx="483616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顺带</a:t>
            </a:r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：业务助理更熟练地用 AI，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4400" y="5324871"/>
            <a:ext cx="483616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开始搭自己的业务工作台，左边就是它的约会页。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口径：业务助理的约会工作台，10/26 截图；截图中人名已换成岗位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edback-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46" y="749300"/>
            <a:ext cx="4940207" cy="3890367"/>
          </a:xfrm>
          <a:prstGeom prst="rect">
            <a:avLst/>
          </a:prstGeom>
          <a:ln w="6350">
            <a:solidFill>
              <a:srgbClr val="E5E5E5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817467"/>
            <a:ext cx="470396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图：工作反馈系统「提交情况」页，第 2 期，姓名已打码（述职报告截图）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838200"/>
            <a:ext cx="41026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工作反馈系统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6700" y="959544"/>
            <a:ext cx="4936235" cy="1352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8800" b="1" i="0" u="none" spc="-3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</a:t>
            </a:r>
            <a:r>
              <a:rPr sz="4400" b="1" i="0" u="none" spc="-8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2305744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双周汇报 4 期，名单 26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276542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双周汇报：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0" y="3192065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 期 105 份，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3618706"/>
            <a:ext cx="43058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3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都在一个系统里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848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372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20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134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9/23 V1.0 到 10/24 V2.11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135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9/23–10/24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38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当天交付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CEO 上午提筛选需求，下午交付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0" y="53848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时间管理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5372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60134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加了时间管理模块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口径：工作反馈系统线上库；版本取 git；截图取自述职报告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ventory-p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99" y="3022600"/>
            <a:ext cx="10972600" cy="3073995"/>
          </a:xfrm>
          <a:prstGeom prst="rect">
            <a:avLst/>
          </a:prstGeom>
          <a:ln w="6350">
            <a:solidFill>
              <a:srgbClr val="E5E5E5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0373"/>
            <a:ext cx="5169773" cy="322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0" b="1" i="0" u="none" spc="-84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8400" b="1" i="0" u="none" spc="-2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</a:t>
            </a:r>
            <a:r>
              <a:rPr sz="8400" b="1" i="0" u="none" spc="-25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0" y="673100"/>
            <a:ext cx="6777569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场景挖掘的 3 项基线全部达到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0" y="1562100"/>
            <a:ext cx="26212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识别场景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1714500"/>
            <a:ext cx="282448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</a:t>
            </a:r>
            <a:r>
              <a:rPr sz="1500" b="1" i="0" u="none" spc="-1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0" y="2203450"/>
            <a:ext cx="26212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供应商模具周期管理、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0" y="2374900"/>
            <a:ext cx="26212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AI 辅助 3D 内容、飞书使用诊断、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2546350"/>
            <a:ext cx="26212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AI 兴趣活动；第 4 期汇报列到 9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56210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可执行方案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714500"/>
            <a:ext cx="265988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1500" b="1" i="0" u="none" spc="-1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0345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GTM 三步走 MVP、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7490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3D 内容实测建议、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4635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AI 兴趣活动方案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156210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400" y="1714500"/>
            <a:ext cx="265988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500" b="1" i="0" u="none" spc="-1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/1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220345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美区库存看板（下图），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2374900"/>
            <a:ext cx="2456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多维表格做的，自动同步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350000"/>
            <a:ext cx="351206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口径：目标跟踪表 9-30 版；第 4 期汇报场景列到 9 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7711" y="6350000"/>
            <a:ext cx="311666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图：美区库存看板（PoC），双周汇报第 2 期截图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-152400"/>
            <a:ext cx="7519209" cy="4610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0" b="1" i="0" u="none" spc="-120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5000" b="1" i="0" u="none" spc="-30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0965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专利 3 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2400" y="97155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核心能力搭建、3 个案例验证、1 轮优化，都是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952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按计划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400" y="152142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9/21–10/20 应该启动，错过了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939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07129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精力放在权重 80% 的 VOC、CEO 提效、场景挖掘上，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2400" y="232906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这是我排的优先级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46500"/>
            <a:ext cx="8547981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 AI 没启动，星际圈断档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02920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星际圈上线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81600"/>
            <a:ext cx="312623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670550"/>
            <a:ext cx="29230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开通当周发了 3 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50292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建圈节点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0" y="51816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9/25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逾期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0" y="56705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10/23 自评运营断档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0292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星际圈内容 / 成员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51816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12+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3800" y="56705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 月的数；成员数还没统计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7000" y="50292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补救（计划，时间待确认）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5181600"/>
            <a:ext cx="2934208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11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567055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专利 GTM 启动；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0" y="5842000"/>
            <a:ext cx="27310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星际圈每双周 1 篇、成员到 30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口径：目标跟踪表 9-30 版；12+ 篇是 10 月的数；补救是计划，启动和验证时间待确认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1524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三、工作目标完成情况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171450"/>
            <a:ext cx="8590954" cy="430986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0" b="1" i="0" u="none" spc="-11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7</a:t>
            </a:r>
            <a:r>
              <a:rPr sz="28000" b="1" i="0" u="none" spc="-11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7</a:t>
            </a:r>
            <a:r>
              <a:rPr sz="504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43532" y="1200150"/>
            <a:ext cx="2238867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我写的知识库文档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3532" y="1457920"/>
            <a:ext cx="2238867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主空间 79 篇里的 77 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4172" y="1772840"/>
            <a:ext cx="219822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知识库按创建人统计，10-26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89200"/>
            <a:ext cx="42672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按月：10 月统计到 10-26，不是整月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90825"/>
            <a:ext cx="831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2400" y="2730500"/>
            <a:ext cx="55997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46425"/>
            <a:ext cx="831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0550" y="3086100"/>
            <a:ext cx="55997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02025"/>
            <a:ext cx="831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3441700"/>
            <a:ext cx="55997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38600"/>
            <a:ext cx="591839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指标以外：一份 IT 规划，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41440"/>
            <a:ext cx="591839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77 篇知识库文档。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588000"/>
            <a:ext cx="235788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IT 建设规划 2026–2028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753100"/>
            <a:ext cx="2561089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42050"/>
            <a:ext cx="235788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讨论稿，10/9 成稿，下一节讲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6520" y="5588000"/>
            <a:ext cx="219329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经营指标方法论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6520" y="5753100"/>
            <a:ext cx="2396497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6520" y="6242050"/>
            <a:ext cx="219329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10/9 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1040" y="5588000"/>
            <a:ext cx="219340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前端组件库 usmile-ui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1040" y="5753100"/>
            <a:ext cx="2396605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v0.2.0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1040" y="6242050"/>
            <a:ext cx="219340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10/22，内部系统共用一套前端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660" y="5588000"/>
            <a:ext cx="219329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集团目标驾驶舱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5660" y="5753100"/>
            <a:ext cx="2396497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660" y="6242050"/>
            <a:ext cx="219329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9/9 上线，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5660" y="6407150"/>
            <a:ext cx="219329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后来并入工作反馈系统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0180" y="5588000"/>
            <a:ext cx="219340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飞书 AI 使用与额度诊断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0180" y="5753100"/>
            <a:ext cx="2396605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0180" y="6242050"/>
            <a:ext cx="219340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8/6、8/17、10/21；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0180" y="6407150"/>
            <a:ext cx="219340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提出按场景分配额度，待反馈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-ro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149600"/>
            <a:ext cx="45720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513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三、指标以外：IT 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28600"/>
            <a:ext cx="9820199" cy="277058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6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约</a:t>
            </a:r>
            <a:r>
              <a:rPr sz="18000" b="1" i="0" u="none" spc="-7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2</a:t>
            </a:r>
            <a:r>
              <a:rPr sz="18000" b="1" i="0" u="none" spc="-7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,</a:t>
            </a:r>
            <a:r>
              <a:rPr sz="18000" b="1" i="0" u="none" spc="-7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7</a:t>
            </a:r>
            <a:r>
              <a:rPr sz="18000" b="1" i="0" u="none" spc="-7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8000" b="1" i="0" u="none" spc="-7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3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03676" y="1035050"/>
            <a:ext cx="1378723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IT 每年的花费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4316" y="1349970"/>
            <a:ext cx="133808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IT 规划原文第 1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98800"/>
            <a:ext cx="6893806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做出来的东西没人信、也没人用。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51870"/>
            <a:ext cx="241989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管着 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60</a:t>
            </a:r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个系统、约 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30</a:t>
            </a:r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家厂商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07470"/>
            <a:ext cx="508604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渗透率 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24.2%</a:t>
            </a:r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，同规模飞书客户里最低（对照客户 46%–73%）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63070"/>
            <a:ext cx="4766615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员工自己买 AI 工具再报销，公司已经付费的飞书 AI 额度却闲着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43500"/>
            <a:ext cx="65714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归到底是三个「没有」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78450"/>
            <a:ext cx="197357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1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没有主线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3014" y="5378450"/>
            <a:ext cx="1973683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1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没有收口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6528" y="5378450"/>
            <a:ext cx="2843577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1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没有按产品负责的组织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5969000"/>
            <a:ext cx="50901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IT 规划图 5：六个现象，三个根因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口径：IT 规划原文第 1 章；对照客户 46%–73% 取飞书 9 月诊断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-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698500"/>
            <a:ext cx="4572000" cy="2971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54000"/>
            <a:ext cx="15513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三、指标以外：IT 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77900"/>
            <a:ext cx="5524115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9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IT 先当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1800820"/>
            <a:ext cx="5524115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9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第一个客户，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2623740"/>
            <a:ext cx="5524115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9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先治好自己。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374650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IT 自己的毛病，就是公司信息化要解的问题。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401320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0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先治好自己，再推全公司。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4927600"/>
            <a:ext cx="56388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5130800"/>
            <a:ext cx="578104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400" b="1" i="0" u="none" spc="-24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目标 → 项目 → 执行 → 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5551090"/>
            <a:ext cx="56794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看得见、管得住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3746500"/>
            <a:ext cx="50901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IT 规划图 1：蓝图（一条主线、五层结构、三个产品组）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4152900"/>
            <a:ext cx="50901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先做三件事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4408189"/>
            <a:ext cx="172923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所有项目统一跟进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4712989"/>
            <a:ext cx="2305304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自研系统从项目变成产品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5017789"/>
            <a:ext cx="237667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建公司自己的 Agent 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5486400"/>
            <a:ext cx="50901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买还是建，按属于哪一层定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5727700"/>
            <a:ext cx="168859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通用的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5899150"/>
            <a:ext cx="1769872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1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5200" y="5727700"/>
            <a:ext cx="168859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公司特有的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5200" y="5899150"/>
            <a:ext cx="1769872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1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只建一个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0" y="5727700"/>
            <a:ext cx="168859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长尾小场景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0" y="5899150"/>
            <a:ext cx="1769872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1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业务自己搭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口径：IT 规划原文第 3 章，全文在知识库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15513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三、指标以外：IT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5000"/>
            <a:ext cx="7948656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Agent 平台：企业 AI 中台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700" y="1320800"/>
            <a:ext cx="3638704" cy="20027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0" b="1" i="0" u="none" spc="-5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2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个门户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1100" y="1320800"/>
            <a:ext cx="3309520" cy="20027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0" b="1" i="0" u="none" spc="-5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  <a:r>
              <a:rPr sz="2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条路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1320800"/>
            <a:ext cx="3638704" cy="20027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000" b="1" i="0" u="none" spc="-52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2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份数据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1850"/>
            <a:ext cx="321056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员工从飞书工作台进门户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34680"/>
            <a:ext cx="21478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平台落地后员工看到的样子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400" y="3359150"/>
            <a:ext cx="485648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会用 AI 编程的人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400" y="3621980"/>
            <a:ext cx="38562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在自己的 Claude Code、Codex 里一句话发布应用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6400" y="4210050"/>
            <a:ext cx="485648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不会 AI 编程的人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400" y="4472880"/>
            <a:ext cx="23124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在网页里对话，也能做出应用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2400" y="3371850"/>
            <a:ext cx="293624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同一份飞书数据和业务库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2400" y="3634680"/>
            <a:ext cx="148945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所有应用都读它，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2400" y="3848000"/>
            <a:ext cx="198323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谁能看什么由平台统一管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84800"/>
            <a:ext cx="588568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为什么自己建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600700"/>
            <a:ext cx="590600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业务 SOP 是公司的打法，装进外采平台就带不走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5384800"/>
            <a:ext cx="569366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怎么建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5600700"/>
            <a:ext cx="571398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底层基于开源搭，我们只写公司规矩和业务技能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口径：企业 AI 中台设计记录，2026-10-13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三、团队管理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317500"/>
            <a:ext cx="7604347" cy="30784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0" b="1" i="0" u="none" spc="-80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</a:t>
            </a:r>
            <a:r>
              <a:rPr sz="20000" b="1" i="0" u="none" spc="-80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</a:t>
            </a:r>
            <a:r>
              <a:rPr sz="20000" b="1" i="0" u="none" spc="-80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51326" y="1200150"/>
            <a:ext cx="3031073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口腔品牌经营看板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1326" y="1457920"/>
            <a:ext cx="3031073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10/10 已到 V50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1966" y="1772840"/>
            <a:ext cx="299043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CEO 10/1–10/12 先后发来的 HTML 原型之一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49600"/>
            <a:ext cx="10369954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三方分工，是从「需求不清、周期长」里磨出来的。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64000"/>
            <a:ext cx="250019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9 月底到 10 月中，CEO 工作台这条线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83100"/>
            <a:ext cx="2167128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4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9/28–29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2125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列 5 个产品方向；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4221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又列 CEO 工作台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6317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先做 5 件事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4483100"/>
            <a:ext cx="2167128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4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492125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会议看板 v2.0 上线；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400" y="514221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9/30 之后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8400" y="536317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没再打开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4483100"/>
            <a:ext cx="2167128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4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10/1–12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200" y="492125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先后发来多份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200" y="514221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HTML 原型；口腔品牌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7200" y="536317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经营看板 10/10 到 V50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4483100"/>
            <a:ext cx="2167128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4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492125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CEO：「前提还是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514221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问题足够锐利清晰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0" y="536317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……反而在卷交互」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800" y="4483100"/>
            <a:ext cx="2167128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4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0" y="492125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看板方案讨论会：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4800" y="514221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先定义问题再开发；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4800" y="536317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工作台节点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4800" y="558413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转为待确认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3600" y="4483100"/>
            <a:ext cx="2167128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44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10/14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3600" y="492125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在群里定三方分工；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600" y="514221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18:03 拍板 CEO 工作台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600" y="5363170"/>
            <a:ext cx="2065527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方向，说「定了」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口径：CEO 群消息、每日记录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三、团队管理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8820237" cy="673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400" b="1" i="0" u="none" spc="-6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10/14 的分工：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51148"/>
            <a:ext cx="8820237" cy="673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400" b="1" i="0" u="none" spc="-6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我负责把确认过的需求做成产品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24100"/>
            <a:ext cx="3403600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2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70250"/>
            <a:ext cx="2997200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业务助理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76650"/>
            <a:ext cx="29159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发现业务痛点，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97610"/>
            <a:ext cx="29159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定义问题和指标，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18570"/>
            <a:ext cx="29159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出产品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800" y="2324100"/>
            <a:ext cx="3403600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2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3270250"/>
            <a:ext cx="2997200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3676650"/>
            <a:ext cx="29159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确认需求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2324100"/>
            <a:ext cx="3184144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24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9200" y="3270250"/>
            <a:ext cx="2777744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3676650"/>
            <a:ext cx="269646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数据打通，产品实现，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9200" y="3897610"/>
            <a:ext cx="269646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发现好产品推广赋能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200" y="2324100"/>
            <a:ext cx="3403600" cy="920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b="1" i="0" u="none" spc="-2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9200" y="3270250"/>
            <a:ext cx="2997200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业务助理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3676650"/>
            <a:ext cx="29159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产品化之后看活跃、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200" y="3897610"/>
            <a:ext cx="291592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看迭代，升级产品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111750"/>
            <a:ext cx="77236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分工之后两周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334000"/>
            <a:ext cx="2631368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708650"/>
            <a:ext cx="2550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工作反馈系统按 CEO 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921970"/>
            <a:ext cx="2550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Demo 改版上线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4067" y="5334000"/>
            <a:ext cx="2631475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4067" y="5708650"/>
            <a:ext cx="2550195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时间管理上线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8633" y="5334000"/>
            <a:ext cx="2631368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00" b="1" i="0" u="none" spc="-4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8633" y="5708650"/>
            <a:ext cx="2550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10:54 提需求，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8633" y="5921970"/>
            <a:ext cx="2550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16:52 交付验收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4800" y="5111750"/>
            <a:ext cx="410260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0" y="5378450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是不是分工带来的，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0" y="5627290"/>
            <a:ext cx="4143248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时间还短，下不了结论。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4800" y="5914231"/>
            <a:ext cx="412292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现在当试验田在跑。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口径：10/14 CEO 群消息原文；交付时间取应用发布记录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三、团队管理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-69850"/>
            <a:ext cx="6113994" cy="491916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0" b="1" i="0" u="none" spc="-128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5000" y="2641600"/>
            <a:ext cx="3352800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28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个平台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000" y="3147020"/>
            <a:ext cx="31902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协助战略运营用 AI 搭起来：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5000" y="3360340"/>
            <a:ext cx="31902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经营管理平台、数据同步平台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25950"/>
            <a:ext cx="5314001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能力外溢：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81066"/>
            <a:ext cx="5314001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身边的人用 AI 快起来了。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711200"/>
            <a:ext cx="574852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看得见的行为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79500"/>
            <a:ext cx="141325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8/16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0" y="111760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带业务助理搭 CEO 知识助理，8/31 一起拆成多个智能体；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0" y="133856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现在分工里由她出产品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92300"/>
            <a:ext cx="141325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3000" y="193040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写了 13 章新手手册，发给 SKY、业务助理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05100"/>
            <a:ext cx="141325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战略运营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3000" y="274320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协助用 AI 搭了可视化的经营管理平台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3000" y="296416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和数据同步平台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17900"/>
            <a:ext cx="141325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战略招聘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3000" y="355600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协助用 AI 主动管理自己的日常，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3000" y="377696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面试纪要自动整理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30700"/>
            <a:ext cx="141325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10/1–19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3000" y="436880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作为需求方，陆续发来 5 份 HTML 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43500"/>
            <a:ext cx="1413256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3000" y="518160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指引：他的《公司能力平台》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3000" y="5402560"/>
            <a:ext cx="4589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「已经发给财务、法务，行政，热身开始做起来了」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口径：带日期的取 CEO 群消息、每日记录；战略运营、战略招聘两条没有记日期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三、团队管理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292100"/>
            <a:ext cx="9741546" cy="277058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0" b="1" i="0" u="none" spc="-7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5</a:t>
            </a:r>
            <a:r>
              <a:rPr sz="18000" b="1" i="0" u="none" spc="-7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8</a:t>
            </a:r>
            <a:r>
              <a:rPr sz="18000" b="1" i="0" u="none" spc="-7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.</a:t>
            </a:r>
            <a:r>
              <a:rPr sz="18000" b="1" i="0" u="none" spc="-7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7</a:t>
            </a:r>
            <a:r>
              <a:rPr sz="18000" b="1" i="0" u="none" spc="-72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7559" b="1" i="0" u="none" spc="-151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30007" y="1200150"/>
            <a:ext cx="215239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飞书 AI 年度额度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0007" y="1457920"/>
            <a:ext cx="215239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618 万点里用掉的比例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0647" y="1772840"/>
            <a:ext cx="21117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10/23，飞书诊断报告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33700"/>
            <a:ext cx="7260308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用的人多了，用量也跟着上来。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300" y="3803650"/>
            <a:ext cx="145720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8/17</a:t>
            </a:r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　用了 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300" y="4667250"/>
            <a:ext cx="1015825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68.35 万点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4700" y="3803650"/>
            <a:ext cx="182014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10/23</a:t>
            </a:r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　用了 58.70%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4700" y="4667250"/>
            <a:ext cx="1122231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362.76 万点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1312" y="3803650"/>
            <a:ext cx="831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年度额度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129" y="4667250"/>
            <a:ext cx="86527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618 万点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84800"/>
            <a:ext cx="38831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其中 aily 专业版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549900"/>
            <a:ext cx="406603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约</a:t>
            </a:r>
            <a:r>
              <a:rPr sz="2800" b="1" i="0" u="none" spc="-8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32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万点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00750"/>
            <a:ext cx="38831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9/13–10/19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5384800"/>
            <a:ext cx="761390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飞书方的估计（10/21 来访时说的，不是已经发生）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0400" y="5619750"/>
            <a:ext cx="7654544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按现在的速度，纪要专用额度 11 月初用完，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400" y="5877520"/>
            <a:ext cx="7654544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通用点数 11 月底用完。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口径：8/17 取飞书管理后台，10/23 取飞书诊断报告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三、团队管理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95250"/>
            <a:ext cx="9584551" cy="369093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36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约</a:t>
            </a:r>
            <a:r>
              <a:rPr sz="24000" b="1" i="0" u="none" spc="-9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24000" b="1" i="0" u="none" spc="-9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24000" b="1" i="0" u="none" spc="-96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624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26400" y="958850"/>
            <a:ext cx="399287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token，按我自己两个月的记录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6400" y="1130300"/>
            <a:ext cx="399287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出自《5 怎么省 token》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6400" y="1514475"/>
            <a:ext cx="995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自己打的字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524" y="1454150"/>
            <a:ext cx="977665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约 </a:t>
            </a:r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26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6400" y="1933575"/>
            <a:ext cx="102643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AI 写出来的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9788" y="1873250"/>
            <a:ext cx="13705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约 </a:t>
            </a:r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1,600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6400" y="2352675"/>
            <a:ext cx="995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重读旧内容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2513" y="2292350"/>
            <a:ext cx="1140757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约 </a:t>
            </a:r>
            <a:r>
              <a:rPr sz="18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101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454400"/>
            <a:ext cx="8726848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大头在重读旧内容，不在打字和生成。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489450"/>
            <a:ext cx="12043664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正在沉淀：《IT/AI 产品高效开发方法论》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764980"/>
            <a:ext cx="1202334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9/28 CEO 把它列为最重要的产品，10/21 开写；首页和 8 篇有了初稿，计划 10/30 补齐成文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5080000"/>
            <a:ext cx="149869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5372100"/>
            <a:ext cx="145805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新人第一天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9128" y="5080000"/>
            <a:ext cx="149869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9128" y="5372100"/>
            <a:ext cx="145805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关键的东西图解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057" y="5080000"/>
            <a:ext cx="149880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057" y="5372100"/>
            <a:ext cx="145816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七步走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5085" y="5080000"/>
            <a:ext cx="153009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5085" y="5372100"/>
            <a:ext cx="148945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工具和模型怎么选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2085" y="5080000"/>
            <a:ext cx="149869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2085" y="5372100"/>
            <a:ext cx="145805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怎么省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014" y="5080000"/>
            <a:ext cx="149880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014" y="5372100"/>
            <a:ext cx="145816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好用的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8042" y="5080000"/>
            <a:ext cx="149869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8042" y="5372100"/>
            <a:ext cx="1458059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模板包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5971" y="5080000"/>
            <a:ext cx="149880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5971" y="5372100"/>
            <a:ext cx="145816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怎么继续学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5854700"/>
            <a:ext cx="397269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先推两个 Skill：</a:t>
            </a:r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「新项目七步引导」「业务指标校准」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口径：知识库《IT/AI 产品高效开发方法论》《5 怎么省 token》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70104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三、投入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279400"/>
            <a:ext cx="9769959" cy="292129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000" b="1" i="0" u="none" spc="-76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1</a:t>
            </a:r>
            <a:r>
              <a:rPr sz="19000" b="1" i="0" u="none" spc="-76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,</a:t>
            </a:r>
            <a:r>
              <a:rPr sz="19000" b="1" i="0" u="none" spc="-76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19000" b="1" i="0" u="none" spc="-76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0</a:t>
            </a:r>
            <a:r>
              <a:rPr sz="19000" b="1" i="0" u="none" spc="-760">
                <a:solidFill>
                  <a:srgbClr val="0073E4"/>
                </a:solidFill>
                <a:latin typeface="Helvetica Neue"/>
                <a:ea typeface="PingFang SC"/>
                <a:cs typeface="Helvetica Neue"/>
              </a:rPr>
              <a:t>5</a:t>
            </a:r>
            <a:r>
              <a:rPr sz="304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26400" y="685800"/>
            <a:ext cx="399287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每月代码提交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5336" y="2508250"/>
            <a:ext cx="871728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6400" y="3067050"/>
            <a:ext cx="48797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7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6400" y="329436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只算 22–31 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3236" y="2298700"/>
            <a:ext cx="871728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4300" y="3067050"/>
            <a:ext cx="995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8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1136" y="933450"/>
            <a:ext cx="871728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2200" y="3067050"/>
            <a:ext cx="99568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9036" y="774700"/>
            <a:ext cx="871728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60100" y="3067050"/>
            <a:ext cx="594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60100" y="329436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截至 25 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568700"/>
            <a:ext cx="6442813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三个月代码提交 1,305 次，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071540"/>
            <a:ext cx="6442813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b="1" i="0" u="none" spc="-36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上线发布 225 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232400"/>
            <a:ext cx="38831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上线发布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97500"/>
            <a:ext cx="4086352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225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88645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妙搭 213 次 + VOC 生产部署 12 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0400" y="5232400"/>
            <a:ext cx="366369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9 月起每月提交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5397500"/>
            <a:ext cx="3866896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500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次以上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0400" y="5886450"/>
            <a:ext cx="36840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产品从 1 个变成 4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5232400"/>
            <a:ext cx="366369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8 月打卡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5397500"/>
            <a:ext cx="3866896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b="1" i="0" u="none" spc="-105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259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小时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5886450"/>
            <a:ext cx="36840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21 个工作日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350000"/>
            <a:ext cx="421822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口径：7/22–10/25，6 个仓库，按作者统计；发布指本人账号操作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6400" y="6350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斜线柱：不是整月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四、自我评价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-44450"/>
            <a:ext cx="6230655" cy="46112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0" b="1" i="0" u="none" spc="-1200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4</a:t>
            </a:r>
            <a:r>
              <a:rPr sz="3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971550"/>
            <a:ext cx="4374276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会议看板，CEO 9/28、9/29 共打开 4 次，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7000" y="1229320"/>
            <a:ext cx="4374276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9/30 之后没再打开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2057400"/>
            <a:ext cx="5898328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做出来了，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7000" y="2727920"/>
            <a:ext cx="5898328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用得还不多。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73525"/>
            <a:ext cx="8310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会议看板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073525"/>
            <a:ext cx="487973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4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492625"/>
            <a:ext cx="1160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工作反馈系统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492625"/>
            <a:ext cx="5942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14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300" y="4838700"/>
            <a:ext cx="46658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9/21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4838700"/>
            <a:ext cx="46658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9/28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100" y="4838700"/>
            <a:ext cx="46658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10/5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0" y="4838700"/>
            <a:ext cx="55530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10/12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0900" y="4838700"/>
            <a:ext cx="55530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10/19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9337" y="4838700"/>
            <a:ext cx="55530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10/25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08600"/>
            <a:ext cx="38831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两个应用的累计用户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473700"/>
            <a:ext cx="4066031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8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3</a:t>
            </a:r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924550"/>
            <a:ext cx="388315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两个应用都是 3 人，其中 2 人是开发者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5308600"/>
            <a:ext cx="366369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工作反馈系统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0400" y="5473700"/>
            <a:ext cx="3846576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800" b="1" i="0" u="none" spc="-84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0400" y="5924550"/>
            <a:ext cx="366369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2E2E2E"/>
                </a:solidFill>
                <a:latin typeface="Helvetica Neue"/>
                <a:ea typeface="PingFang SC"/>
                <a:cs typeface="Helvetica Neue"/>
              </a:rPr>
              <a:t>最后一次打开；6 天打开 14 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5308600"/>
            <a:ext cx="366369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5543550"/>
            <a:ext cx="372465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这是下一阶段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0" y="5807670"/>
            <a:ext cx="372465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最要解决的事。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350000"/>
            <a:ext cx="582150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口径：两个应用线上库访问记录，只读查询，截至 10-25；工作反馈系统的记录 9/28 起才有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6350000"/>
            <a:ext cx="5638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打开过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8600" y="6350000"/>
            <a:ext cx="5638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没打开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74400" y="6350000"/>
            <a:ext cx="70104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没有记录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四、自我评价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60400"/>
            <a:ext cx="8197361" cy="488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200" b="1" i="0" u="none" spc="-3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问题和指标想得不够，是我最大的短板。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16050"/>
            <a:ext cx="122875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800" b="1" i="0" u="none" spc="-19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「前提还是问题足够锐利清晰，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9300"/>
            <a:ext cx="122875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800" b="1" i="0" u="none" spc="-19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 其次指标选择清晰针对性强。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22550"/>
            <a:ext cx="122875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800" b="1" i="0" u="none" spc="-19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 这两个是最困难，且一直没花时间想。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25800"/>
            <a:ext cx="12287504" cy="584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800" b="1" i="0" u="none" spc="-19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 反而在卷交互。」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17950"/>
            <a:ext cx="1202334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CEO 10/3 群消息，对我最准的提醒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64050"/>
            <a:ext cx="3923791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不符合预期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4882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用得少：会议看板 9/30 之后没再打开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21454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 AI 为 0，星际圈断档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8026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跟进不及时：奖金立项 10/13 到期未完成；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793581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目标表 9-30 后、进度表 10-10 后没更新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800" y="4464050"/>
            <a:ext cx="3923791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符合预期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800" y="484882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产品上线并持续迭代：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800" y="506214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工作反馈系统一个月 20 个版本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800" y="542786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需求当天响应：10/22 当天交付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800" y="5793581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场景挖掘 3 项基线全部达到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464050"/>
            <a:ext cx="3923791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改进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84882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每个产品先写清「解决谁的什么问题、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506214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用什么数衡量」，再做界面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542786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每个产品定一个使用指标，在双周汇报里报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5793581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目标表和进度表跟双周汇报一起回填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口径：CEO 10/3 21:49 群消息原文；奖金立项逾期取飞书任务；使用情况取应用线上库访问记录；其余取目标跟踪表 9-30 版、应用发布记录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54000"/>
            <a:ext cx="97536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五、未来计划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5000"/>
            <a:ext cx="9617400" cy="736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800" b="1" i="0" u="none" spc="-7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后三个月：从做出来，到用起来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4000" y="908050"/>
            <a:ext cx="1454912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全部是计划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44650"/>
            <a:ext cx="4005072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2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M4 场景放量</a:t>
            </a:r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 10/21–11/20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0400" y="1644650"/>
            <a:ext cx="3785616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2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M5 超预期冲刺</a:t>
            </a:r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 11/21–12/20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1644650"/>
            <a:ext cx="3785616" cy="342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00" b="1" i="0" u="none" spc="-22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M6 收官</a:t>
            </a:r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 12/21–1/21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2247900"/>
            <a:ext cx="183014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10/27 述职，往后都是计划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67970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2679700"/>
            <a:ext cx="329996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工作台正式上线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04542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10/30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8400" y="3045420"/>
            <a:ext cx="329996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方法论成文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41114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11/8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3411140"/>
            <a:ext cx="329996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VOC 正式上线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77686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待确认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400" y="3776860"/>
            <a:ext cx="329996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 GTM 启动（11 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267970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待确认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79700"/>
            <a:ext cx="308051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VOC 场景补到 3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400" y="304542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待确认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045420"/>
            <a:ext cx="308051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专利 3 个案例验证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3411140"/>
            <a:ext cx="776224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待确认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11140"/>
            <a:ext cx="308051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星际圈每双周 1 篇、成员到 30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2679700"/>
            <a:ext cx="36840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各产品使用指标复盘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3045420"/>
            <a:ext cx="3684016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转正答辩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679950"/>
            <a:ext cx="3923791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用起来怎么算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96818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从「做出来」转到「用起来」，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189140"/>
            <a:ext cx="3903472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每个产品都要有一个能看的数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6374" y="4781550"/>
            <a:ext cx="99925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CEO 工作台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2800" y="5022850"/>
            <a:ext cx="35742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目标使用者连续两周，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2800" y="5251450"/>
            <a:ext cx="35742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每周至少打开 1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0" y="4781550"/>
            <a:ext cx="81076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1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每个产品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400" y="5022850"/>
            <a:ext cx="35742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定一个使用指标，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0400" y="5251450"/>
            <a:ext cx="3574288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Helvetica Neue"/>
                <a:ea typeface="PingFang SC"/>
                <a:cs typeface="Helvetica Neue"/>
              </a:rPr>
              <a:t>在双周汇报里报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350000"/>
            <a:ext cx="120030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5C5C5C"/>
                </a:solidFill>
                <a:latin typeface="Helvetica Neue"/>
                <a:ea typeface="PingFang SC"/>
                <a:cs typeface="Helvetica Neue"/>
              </a:rPr>
              <a:t>口径：阶段划分取目标跟踪表里程碑；上线日期取第 4 期双周汇报；「用起来怎么算」取述职报告第四、五章；全部是计划，不是已完成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66400" y="254000"/>
            <a:ext cx="124968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00" b="0" i="0" u="none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转正述职　林灶辉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603500"/>
            <a:ext cx="10979554" cy="1409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200" b="1" i="0" u="none" spc="-92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善战者无赫赫之功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