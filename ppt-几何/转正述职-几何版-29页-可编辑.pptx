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79381" y="4683621"/>
            <a:ext cx="107433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b="1" i="0" u="none" spc="48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专利创新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1329" y="4874121"/>
            <a:ext cx="1010336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2400" b="1" i="0" u="none" spc="-2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3632" y="5645050"/>
            <a:ext cx="180406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48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星际圈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3632" y="5835550"/>
            <a:ext cx="1925986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2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9100" y="4277617"/>
            <a:ext cx="2177359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 spc="56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 场景挖掘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9100" y="4493517"/>
            <a:ext cx="2360239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9100" y="3051968"/>
            <a:ext cx="2506007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 spc="56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CEO 提效工具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9100" y="3267868"/>
            <a:ext cx="2688887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62917"/>
            <a:ext cx="315569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 spc="56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VOC 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28017"/>
            <a:ext cx="3501136" cy="882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48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7990" y="673149"/>
            <a:ext cx="1747520" cy="347464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6839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转</a:t>
            </a:r>
          </a:p>
          <a:p>
            <a:pPr algn="ctr">
              <a:lnSpc>
                <a:spcPts val="6839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正</a:t>
            </a:r>
          </a:p>
          <a:p>
            <a:pPr algn="ctr">
              <a:lnSpc>
                <a:spcPts val="6839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述</a:t>
            </a:r>
          </a:p>
          <a:p>
            <a:pPr algn="ctr">
              <a:lnSpc>
                <a:spcPts val="6839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3090" y="749337"/>
            <a:ext cx="325120" cy="54478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试</a:t>
            </a:r>
          </a:p>
          <a:p>
            <a:pPr algn="ctr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用</a:t>
            </a:r>
          </a:p>
          <a:p>
            <a:pPr algn="ctr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期</a:t>
            </a:r>
          </a:p>
        </p:txBody>
      </p:sp>
      <p:sp>
        <p:nvSpPr>
          <p:cNvPr id="14" name="TextBox 13"/>
          <p:cNvSpPr txBox="1"/>
          <p:nvPr/>
        </p:nvSpPr>
        <p:spPr>
          <a:xfrm rot="5400000">
            <a:off x="9025592" y="1952228"/>
            <a:ext cx="1240115" cy="20320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/>
            <a:r>
              <a:rPr sz="1100" b="0" i="0" u="none" spc="330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2026-07-21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3090" y="2705286"/>
            <a:ext cx="325120" cy="18159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至</a:t>
            </a:r>
          </a:p>
        </p:txBody>
      </p:sp>
      <p:sp>
        <p:nvSpPr>
          <p:cNvPr id="16" name="TextBox 15"/>
          <p:cNvSpPr txBox="1"/>
          <p:nvPr/>
        </p:nvSpPr>
        <p:spPr>
          <a:xfrm rot="5400000">
            <a:off x="9025592" y="3436739"/>
            <a:ext cx="1240115" cy="20320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/>
            <a:r>
              <a:rPr sz="1100" b="0" i="0" u="none" spc="330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2027-01-21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3950" y="704850"/>
            <a:ext cx="185648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述职人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3950" y="929580"/>
            <a:ext cx="1988565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14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林灶辉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3950" y="1375271"/>
            <a:ext cx="1886965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战略经营部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3950" y="1650801"/>
            <a:ext cx="1886965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 创新助理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3950" y="2231132"/>
            <a:ext cx="185648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今天讲三件事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3950" y="2513012"/>
            <a:ext cx="1907286" cy="292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做了什么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3950" y="2817812"/>
            <a:ext cx="1907286" cy="292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没做到什么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3950" y="3122612"/>
            <a:ext cx="1907286" cy="292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接下来怎么做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750" y="5956300"/>
            <a:ext cx="238774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240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述职日期　2026-10-27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08000"/>
            <a:ext cx="1496869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上线的 4 个工具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4700" y="1305718"/>
            <a:ext cx="153060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2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VOC 评论雷达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4700" y="1478359"/>
            <a:ext cx="173380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8/11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4700" y="1999059"/>
            <a:ext cx="153060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上线生产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2700" y="1305718"/>
            <a:ext cx="153060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2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工作反馈系统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2700" y="1478359"/>
            <a:ext cx="173380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9/23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700" y="1999059"/>
            <a:ext cx="153060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上线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6355" y="1122759"/>
            <a:ext cx="118598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b="1" i="0" u="none" spc="2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007 会议助手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4655" y="1295400"/>
            <a:ext cx="1329289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200" b="1" i="0" u="none" spc="-32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9/23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214" y="1816100"/>
            <a:ext cx="116027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飞书应用发布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700" y="1305718"/>
            <a:ext cx="153060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2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CEO 会议看板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700" y="1478359"/>
            <a:ext cx="173380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10/1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700" y="1999059"/>
            <a:ext cx="153060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v2.0 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895600"/>
            <a:ext cx="155162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14 项指标完成度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225800"/>
            <a:ext cx="105129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2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专利创新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0900" y="3225800"/>
            <a:ext cx="676461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2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星际圈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200" y="3225800"/>
            <a:ext cx="89281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2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VOC 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0" y="3225800"/>
            <a:ext cx="8950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2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 提效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7600" y="3225800"/>
            <a:ext cx="105129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2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 场景挖掘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1575" y="508049"/>
            <a:ext cx="1168400" cy="484614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三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个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月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上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线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4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个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工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1975" y="492769"/>
            <a:ext cx="1168400" cy="215384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14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项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指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2375" y="492769"/>
            <a:ext cx="1168400" cy="323076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4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项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达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到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基</a:t>
            </a:r>
          </a:p>
          <a:p>
            <a:pPr algn="ctr">
              <a:lnSpc>
                <a:spcPts val="423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7600" y="514350"/>
            <a:ext cx="186334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没做到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7600" y="808930"/>
            <a:ext cx="1893823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专利 AI 没启动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7600" y="1084460"/>
            <a:ext cx="1893823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星际圈断档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7600" y="1359991"/>
            <a:ext cx="1893823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 用得还少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7600" y="1940321"/>
            <a:ext cx="186334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14 项指标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36200" y="2269827"/>
            <a:ext cx="133011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未开始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7270" y="2158702"/>
            <a:ext cx="495129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2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36200" y="2663527"/>
            <a:ext cx="133011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进行中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7270" y="2552402"/>
            <a:ext cx="495129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2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36200" y="3057227"/>
            <a:ext cx="133011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达到基线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87270" y="2946102"/>
            <a:ext cx="495129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2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口径：上线日期取 git 和应用版本记录；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指标取目标跟踪表 9-30 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98901" y="976610"/>
            <a:ext cx="1342898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200" b="1" i="0" u="none" spc="128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CEO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0" y="2076450"/>
            <a:ext cx="56780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240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直属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0893" y="2672754"/>
            <a:ext cx="1018813" cy="330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800" b="1" i="0" u="none" spc="108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林灶辉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9548" y="3016845"/>
            <a:ext cx="102150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AI 创新助理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8990" y="4064000"/>
            <a:ext cx="1736967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 spc="26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给 CEO 做提效工具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4031" y="4064000"/>
            <a:ext cx="1542478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 spc="26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给业务做 AI 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9108" y="4064000"/>
            <a:ext cx="2269962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 spc="26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给公司做 AI 的底座和方法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" y="5169916"/>
            <a:ext cx="467360" cy="45511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会</a:t>
            </a:r>
          </a:p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4795" y="5169916"/>
            <a:ext cx="467360" cy="45511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汇</a:t>
            </a:r>
          </a:p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8545" y="5169916"/>
            <a:ext cx="467360" cy="45511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时</a:t>
            </a:r>
          </a:p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9795" y="4600872"/>
            <a:ext cx="467360" cy="159325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V</a:t>
            </a:r>
          </a:p>
          <a:p>
            <a:pPr algn="ctr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O</a:t>
            </a:r>
          </a:p>
          <a:p>
            <a:pPr algn="ctr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C</a:t>
            </a:r>
          </a:p>
          <a:p>
            <a:pPr algn="ctr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评</a:t>
            </a:r>
          </a:p>
          <a:p>
            <a:pPr algn="ctr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论</a:t>
            </a:r>
          </a:p>
          <a:p>
            <a:pPr algn="ctr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分</a:t>
            </a:r>
          </a:p>
          <a:p>
            <a:pPr algn="ctr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045" y="5059151"/>
            <a:ext cx="467360" cy="6644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743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IT</a:t>
            </a:r>
          </a:p>
          <a:p>
            <a:pPr algn="ctr">
              <a:lnSpc>
                <a:spcPts val="1743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规</a:t>
            </a:r>
          </a:p>
          <a:p>
            <a:pPr algn="ctr">
              <a:lnSpc>
                <a:spcPts val="1743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4795" y="4828492"/>
            <a:ext cx="467360" cy="113791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指</a:t>
            </a:r>
          </a:p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标</a:t>
            </a:r>
          </a:p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方</a:t>
            </a:r>
          </a:p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法</a:t>
            </a:r>
          </a:p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8545" y="5056100"/>
            <a:ext cx="467360" cy="68274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组</a:t>
            </a:r>
          </a:p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件</a:t>
            </a:r>
          </a:p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2295" y="5056100"/>
            <a:ext cx="467360" cy="68274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星</a:t>
            </a:r>
          </a:p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际</a:t>
            </a:r>
          </a:p>
          <a:p>
            <a:pPr algn="ctr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9360" y="508024"/>
            <a:ext cx="1280160" cy="118457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直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属</a:t>
            </a:r>
          </a:p>
        </p:txBody>
      </p:sp>
      <p:sp>
        <p:nvSpPr>
          <p:cNvPr id="18" name="TextBox 17"/>
          <p:cNvSpPr txBox="1"/>
          <p:nvPr/>
        </p:nvSpPr>
        <p:spPr>
          <a:xfrm rot="5400000">
            <a:off x="8037105" y="2118766"/>
            <a:ext cx="1644669" cy="80010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/>
            <a:r>
              <a:rPr sz="4400" b="1" i="0" u="none" spc="264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CEO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884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做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三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类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0" y="514350"/>
            <a:ext cx="23845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部门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796230"/>
            <a:ext cx="241503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战略经营部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1351160"/>
            <a:ext cx="23845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怎么做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0" y="1633041"/>
            <a:ext cx="241503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从定义问题到上线迭代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0" y="1908571"/>
            <a:ext cx="241503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都自己做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2184102"/>
            <a:ext cx="241503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不占研发排期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000" y="2739032"/>
            <a:ext cx="23845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岗位从哪来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3020913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入职当周 CEO 提了 4 项需求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0" y="3264693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7/30 定成 5 个目标、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0" y="3508474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14 项指标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口径：试用期目标跟踪表（7/30 定稿）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40782" y="4714875"/>
            <a:ext cx="116027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上面三项合计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1382" y="4622800"/>
            <a:ext cx="930330" cy="406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00" b="1" i="0" u="none" spc="-2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772120"/>
            <a:ext cx="2484628" cy="1104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0" b="1" i="0" u="none" spc="-6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0" y="1756370"/>
            <a:ext cx="2007108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VOC 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1600" y="2034480"/>
            <a:ext cx="7974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 项指标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0" y="2575520"/>
            <a:ext cx="2200147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0" y="3083520"/>
            <a:ext cx="2007108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 提效工具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1100" y="3361630"/>
            <a:ext cx="7974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 项指标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0" y="3591520"/>
            <a:ext cx="2200147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0" y="4099520"/>
            <a:ext cx="2007108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 场景挖掘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600" y="4377630"/>
            <a:ext cx="7974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 项指标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0" y="4968279"/>
            <a:ext cx="730476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7603" y="5038129"/>
            <a:ext cx="102825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专利创新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3500" y="5274270"/>
            <a:ext cx="7974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 项指标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0" y="5476279"/>
            <a:ext cx="730476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7603" y="5546129"/>
            <a:ext cx="666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星际圈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3500" y="5782270"/>
            <a:ext cx="7974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 项指标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9360" y="491244"/>
            <a:ext cx="1280160" cy="296155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5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个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目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标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8840" y="508024"/>
            <a:ext cx="1280160" cy="47382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V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O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C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一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项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占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40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514350"/>
            <a:ext cx="23845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怎么定的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796230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7/30 定了 5 个目标、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0" y="1040010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14 项指标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0" y="1283791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每项分基线和超预期两档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1527571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今天按基线算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000" y="2050752"/>
            <a:ext cx="23845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怎么读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2332632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一格＝1% 权重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0" y="2576413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小形个数＝指标数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口径：目标跟踪表（7/30 定稿，9-30 最后回填）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eishu-ai-08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711298"/>
            <a:ext cx="6350000" cy="35900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403030"/>
            <a:ext cx="7459471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 spc="4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飞书管理后台 AI 使用数据，8/16 单日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997450"/>
            <a:ext cx="220517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8/16 当天用过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158680"/>
            <a:ext cx="2418532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179</a:t>
            </a:r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5707" y="4997450"/>
            <a:ext cx="220517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使用渗透率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5707" y="5158680"/>
            <a:ext cx="2418532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13.68%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5707" y="5711130"/>
            <a:ext cx="221533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单日口径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1815" y="4997450"/>
            <a:ext cx="2715879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到 8/17 用掉的额度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815" y="5158680"/>
            <a:ext cx="2929239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68.35</a:t>
            </a:r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万点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815" y="5939730"/>
            <a:ext cx="272603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整条＝年度额度 618 万点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9880" y="499616"/>
            <a:ext cx="1280160" cy="345340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8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月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16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日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当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9360" y="508024"/>
            <a:ext cx="1280160" cy="355371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用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飞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书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AI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的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8840" y="516359"/>
            <a:ext cx="1280160" cy="230247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不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到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14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5400" y="79623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工具买了，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5400" y="104001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用的人少。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5400" y="128379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这印证了场景挖掘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5400" y="152757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和星际圈两项要做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600" y="52641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口径：飞书管理后台截图（每日记录 8/17 段）；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8600" y="54927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8/16 是单日数据，和下一页的 24.2%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（近 7 个工作日口径）不是一个数；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截图中人名已换成岗位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ag-1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99" y="711297"/>
            <a:ext cx="6350000" cy="35195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332585"/>
            <a:ext cx="7459471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4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飞书诊断报告「AI 用量总结」，数据截至 2026.10.23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933950"/>
            <a:ext cx="258611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24.2% 的口径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114230"/>
            <a:ext cx="2718192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2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257 / 1,061</a:t>
            </a:r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58730"/>
            <a:ext cx="259627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近 7 个工作日内，在任一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779690"/>
            <a:ext cx="259627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飞书 AI 产品上有用量的人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8430" y="4933950"/>
            <a:ext cx="2270001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通用额度用了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8430" y="5114230"/>
            <a:ext cx="2402081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2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58.70%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8430" y="5787330"/>
            <a:ext cx="2280161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整条＝年度额度 618 万点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4565" y="4933950"/>
            <a:ext cx="2270001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692 的口径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4565" y="5190430"/>
            <a:ext cx="2300481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近 7 个工作日的 AI 日活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4565" y="5457130"/>
            <a:ext cx="2300481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10/23 更新的原文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4565" y="5723830"/>
            <a:ext cx="2300481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没再给渗透率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60401" y="491244"/>
            <a:ext cx="1280160" cy="296155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9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月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渗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透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9880" y="508000"/>
            <a:ext cx="1280160" cy="279400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2</a:t>
            </a:r>
          </a:p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4</a:t>
            </a:r>
          </a:p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.</a:t>
            </a:r>
          </a:p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2</a:t>
            </a:r>
          </a:p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9360" y="499616"/>
            <a:ext cx="1280160" cy="345340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10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月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23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日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日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8840" y="508000"/>
            <a:ext cx="1280160" cy="223520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6</a:t>
            </a:r>
          </a:p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9</a:t>
            </a:r>
          </a:p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2</a:t>
            </a:r>
          </a:p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8600" y="54927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口径：《Usmile 飞书使用诊断与 AI 场景运营计划》，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数据截至 2026.10.23；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24.2% 的口径取 9/23 对齐会飞书方原话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710" y="1280021"/>
            <a:ext cx="650577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b="1" i="0" u="none" spc="-15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66900"/>
            <a:ext cx="1134641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 spc="26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专利创新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7000" y="2743200"/>
            <a:ext cx="590851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797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核心能力搭建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000" y="4051300"/>
            <a:ext cx="590851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3878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 个案例验证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000" y="5359400"/>
            <a:ext cx="590851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6959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 轮优化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8200" y="1454150"/>
            <a:ext cx="784951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b="1" i="0" u="none" spc="-15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9300" y="1866900"/>
            <a:ext cx="728519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 spc="26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星际圈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6700" y="2796579"/>
            <a:ext cx="717804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未统计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9300" y="30797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30 名成员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6700" y="4051300"/>
            <a:ext cx="730476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9300" y="43878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12 篇内容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9300" y="4601170"/>
            <a:ext cx="1664715" cy="165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9-30 版；10 月是 12+ 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6700" y="5187950"/>
            <a:ext cx="58038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 spc="4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有风险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6700" y="5359400"/>
            <a:ext cx="730476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9300" y="56959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建圈并运营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8700" y="577850"/>
            <a:ext cx="1364488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2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1866900"/>
            <a:ext cx="962977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 spc="26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VOC 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400" y="2743200"/>
            <a:ext cx="590315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1/3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0797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 个场景在用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400" y="4051300"/>
            <a:ext cx="730476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3878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 轮优化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6400" y="5359400"/>
            <a:ext cx="730476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6959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核心能力上线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5700" y="1339850"/>
            <a:ext cx="1074066" cy="368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-20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8700" y="1866900"/>
            <a:ext cx="1329237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 spc="26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 提效工具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6100" y="2743200"/>
            <a:ext cx="730476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38700" y="30797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 轮使用优化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6100" y="4104679"/>
            <a:ext cx="539496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达成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8700" y="43878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 个场景落地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2700" y="937220"/>
            <a:ext cx="976876" cy="368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-20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400" y="1866900"/>
            <a:ext cx="1134641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" b="1" i="0" u="none" spc="26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 场景挖掘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5800" y="2743200"/>
            <a:ext cx="590315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5/5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400" y="30797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识别 5 个场景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35800" y="4051300"/>
            <a:ext cx="590315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3/3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43878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 个方案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5800" y="5359400"/>
            <a:ext cx="590315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00" b="1" i="0" u="none" spc="-17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1/1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8400" y="5695950"/>
            <a:ext cx="169519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 个 PoC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9880" y="491256"/>
            <a:ext cx="1280160" cy="236914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14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项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指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9360" y="491232"/>
            <a:ext cx="1280160" cy="355401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4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项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达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到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8840" y="491232"/>
            <a:ext cx="1280160" cy="355401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4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项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还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没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开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汇总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14000" y="856555"/>
            <a:ext cx="113809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未开始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87270" y="745430"/>
            <a:ext cx="495129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2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14000" y="1250255"/>
            <a:ext cx="113809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进行中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87270" y="1139130"/>
            <a:ext cx="495129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2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14000" y="1643955"/>
            <a:ext cx="113809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达到基线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87270" y="1532830"/>
            <a:ext cx="495129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2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85400" y="221863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怎么读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85400" y="252591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上排面积＝权重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85400" y="276969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填色面积＝完成度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85400" y="301347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没完成的排在前面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48600" y="5969000"/>
            <a:ext cx="299962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 spc="44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口径：目标跟踪表 9-30 版，10 月没回填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08000"/>
            <a:ext cx="1251481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3 个场景在用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1723429"/>
            <a:ext cx="1859280" cy="292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Y30 诊断看板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2044700"/>
            <a:ext cx="181863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9/21 交给业务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273300"/>
            <a:ext cx="181863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吴程程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4500" y="1698029"/>
            <a:ext cx="1804416" cy="292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竞品对比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4500" y="2019300"/>
            <a:ext cx="17637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9/24 发出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4500" y="2247900"/>
            <a:ext cx="17637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还在测试环境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09900"/>
            <a:ext cx="7647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核心能力上线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7800" y="3187700"/>
            <a:ext cx="1010336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2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95290"/>
            <a:ext cx="7647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8/11 V1.0 上线生产；共 12 次生产部署；10/21 V2.0 瘦身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051300"/>
            <a:ext cx="7647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 轮优化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7800" y="4229100"/>
            <a:ext cx="1010336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2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636690"/>
            <a:ext cx="76479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换掉 3 个指标维度、清旧数据重跑、补「防水」标签、阈值可调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118100"/>
            <a:ext cx="1496869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数据源 7 个渠道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400" y="5314950"/>
            <a:ext cx="7974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4 个打通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5531346"/>
            <a:ext cx="187061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亚马逊靠 RPA 部分打通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400" y="5747742"/>
            <a:ext cx="96203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 个没打通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9360" y="508000"/>
            <a:ext cx="1280160" cy="355401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V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O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C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上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线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8840" y="508000"/>
            <a:ext cx="1280160" cy="473868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业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务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景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只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有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1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514350"/>
            <a:ext cx="23845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场景在用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650180"/>
            <a:ext cx="2760472" cy="882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48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1/3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0" y="1685230"/>
            <a:ext cx="23845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接下来（计划）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0" y="1967110"/>
            <a:ext cx="241503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11/8 正式上线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2242641"/>
            <a:ext cx="241503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场景补到 3 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8600" y="54927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口径：完成度取目标跟踪表 9-30 版；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部署次数取 VOC 生产部署记录；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渠道取 10/10《Voc数据打通确认》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oc-shot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711201"/>
            <a:ext cx="6350000" cy="37026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15445"/>
            <a:ext cx="7459471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4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VOC「AI 总览分析」页，型号 Y30，全部时间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5518150"/>
            <a:ext cx="2385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 个场景里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761930"/>
            <a:ext cx="2385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在用的 1 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3267" y="4997450"/>
            <a:ext cx="237544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对着截图讲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3267" y="5279330"/>
            <a:ext cx="2385603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Y30 的功能点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3267" y="5523110"/>
            <a:ext cx="2385603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按复购驱动、潜力复购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3267" y="5766891"/>
            <a:ext cx="2385603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品牌流失、无感功能分栏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7033" y="4997450"/>
            <a:ext cx="237533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10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7033" y="5279330"/>
            <a:ext cx="2385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10/21 V2.0 系统瘦身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7033" y="5523110"/>
            <a:ext cx="2385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10/23 矩阵判定规则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7033" y="5766891"/>
            <a:ext cx="2385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改成界面可调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360" y="508024"/>
            <a:ext cx="1280160" cy="355371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Y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30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诊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断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看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8840" y="491256"/>
            <a:ext cx="1280160" cy="47382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9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月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21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日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交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给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业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口径：截图取自述职报告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oc-sh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711272"/>
            <a:ext cx="6350000" cy="27658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78820"/>
            <a:ext cx="7459471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4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VOC「竞品对比」页，Y30 对徕芬 TB01，2026-06-01 至 07-01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425950"/>
            <a:ext cx="237533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对着截图讲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707830"/>
            <a:ext cx="2385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Y30 和竞品并排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951610"/>
            <a:ext cx="2385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比差评率、评分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195391"/>
            <a:ext cx="2385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差评落在哪些功能点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3267" y="4946650"/>
            <a:ext cx="2385603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最多 4 列，截图里用了 2 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3267" y="5190430"/>
            <a:ext cx="2385603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所有列共用一个时间窗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7033" y="4425950"/>
            <a:ext cx="237533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截图口径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7033" y="4707830"/>
            <a:ext cx="2385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竞品这一列有星级的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7033" y="4951610"/>
            <a:ext cx="2385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只有 14 条，样本小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988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竞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品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对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360" y="499616"/>
            <a:ext cx="1280160" cy="345340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9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月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24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日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发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8840" y="508000"/>
            <a:ext cx="1280160" cy="355401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还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测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试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环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8600" y="5721350"/>
            <a:ext cx="3771900" cy="4508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775"/>
              </a:lnSpc>
            </a:pPr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口径：截图取自述职报告；9/24 发出、还在测试环境取述职报告 G1 目标表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08000"/>
            <a:ext cx="326194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CEO 日历 5/24–10/21　一格一场会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806950"/>
            <a:ext cx="241198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CEO 日历上的会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980880"/>
            <a:ext cx="262534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635</a:t>
            </a:r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7200" y="4806950"/>
            <a:ext cx="241198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合计时长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7200" y="4980880"/>
            <a:ext cx="262534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534.9</a:t>
            </a:r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小时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84800" y="4806950"/>
            <a:ext cx="241198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有星级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84800" y="4980880"/>
            <a:ext cx="262534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355</a:t>
            </a:r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0" y="5552380"/>
            <a:ext cx="666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有星级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5400" y="5552380"/>
            <a:ext cx="666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还没有</a:t>
            </a:r>
          </a:p>
        </p:txBody>
      </p:sp>
      <p:sp>
        <p:nvSpPr>
          <p:cNvPr id="11" name="TextBox 10"/>
          <p:cNvSpPr txBox="1"/>
          <p:nvPr/>
        </p:nvSpPr>
        <p:spPr>
          <a:xfrm rot="5400000">
            <a:off x="8707675" y="762595"/>
            <a:ext cx="1644570" cy="80010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/>
            <a:r>
              <a:rPr sz="4400" b="1" i="0" u="none" spc="264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9880" y="1804727"/>
            <a:ext cx="1280160" cy="175178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597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5</a:t>
            </a:r>
          </a:p>
          <a:p>
            <a:pPr algn="ctr">
              <a:lnSpc>
                <a:spcPts val="4597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个</a:t>
            </a:r>
          </a:p>
          <a:p>
            <a:pPr algn="ctr">
              <a:lnSpc>
                <a:spcPts val="4597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9360" y="516371"/>
            <a:ext cx="1280160" cy="402914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开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了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6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3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5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场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8840" y="508000"/>
            <a:ext cx="1280160" cy="414635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现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能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一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会议看板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5400" y="79623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日历同步进来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5400" y="104001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会开得怎样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5400" y="128379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一场场能看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5400" y="1781571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007 会议助手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5400" y="2063452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9/23 发布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5400" y="2307232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会后提待办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5400" y="2551013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双周提醒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5400" y="3048793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5400" y="3330674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 个 CEO 场景落地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5400" y="3574454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达到基线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口径：CEO 会议看板线上库，只读查询，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截至 10-25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oking-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98" y="711200"/>
            <a:ext cx="5860853" cy="47243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537200"/>
            <a:ext cx="693140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 spc="4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业务助理自己搭的约会工作台「和 007 约会请填写」，10/26 截图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5310" y="508000"/>
            <a:ext cx="1280160" cy="296167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会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议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这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条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94790" y="508000"/>
            <a:ext cx="1280160" cy="296167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连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成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了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闭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4600" y="514350"/>
            <a:ext cx="309778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用智能体连起来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900" y="834330"/>
            <a:ext cx="93065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会前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13900" y="1008260"/>
            <a:ext cx="96113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材料评审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13900" y="1596330"/>
            <a:ext cx="131470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约会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900" y="1770260"/>
            <a:ext cx="1345184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会议时间预约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13900" y="2358330"/>
            <a:ext cx="131470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会后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3900" y="2532260"/>
            <a:ext cx="1345184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自动推送打分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4600" y="3056830"/>
            <a:ext cx="309778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直接的好处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4600" y="3364110"/>
            <a:ext cx="310794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业务助理开会前的准备工作少了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4600" y="3861891"/>
            <a:ext cx="309778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顺带的变化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4600" y="4169171"/>
            <a:ext cx="310794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业务助理更熟练地用 AI，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4600" y="4412952"/>
            <a:ext cx="310794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开始搭自己的业务工作台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4600" y="4656732"/>
            <a:ext cx="310794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左边就是其中的约会页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4550" y="5721350"/>
            <a:ext cx="491159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口径：业务助理的约会工作台，10/26 截图；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4550" y="5949950"/>
            <a:ext cx="491159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截图中人名已换成岗位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eedback-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11" y="711200"/>
            <a:ext cx="4559077" cy="35902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403030"/>
            <a:ext cx="552551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 spc="4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「提交情况」页，第 2 期，姓名已打码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997450"/>
            <a:ext cx="230397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双周汇报 4 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171380"/>
            <a:ext cx="2517330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105</a:t>
            </a:r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742880"/>
            <a:ext cx="231413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名单 26 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7187" y="4997450"/>
            <a:ext cx="230407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一个月的版本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7187" y="5171380"/>
            <a:ext cx="2517437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20</a:t>
            </a:r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7187" y="5971480"/>
            <a:ext cx="2314237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9/23 V1.0 到 10/24 V2.11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874" y="4997450"/>
            <a:ext cx="2518175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需求当天交付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874" y="5266630"/>
            <a:ext cx="252833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10/22 CEO 上午提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874" y="5510410"/>
            <a:ext cx="252833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年度和人员筛选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874" y="5754191"/>
            <a:ext cx="252833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下午交付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874" y="5997971"/>
            <a:ext cx="252833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10/19 加了时间管理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988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双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汇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360" y="499616"/>
            <a:ext cx="1280160" cy="345340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4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期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1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0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5</a:t>
            </a:r>
          </a:p>
          <a:p>
            <a:pPr algn="ctr">
              <a:lnSpc>
                <a:spcPts val="453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8840" y="508000"/>
            <a:ext cx="1280160" cy="414635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都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一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个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系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统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8600" y="5721350"/>
            <a:ext cx="3771900" cy="4508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775"/>
              </a:lnSpc>
            </a:pPr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口径：工作反馈系统线上库；版本取 git；截图取自述职报告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ventory-p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13" y="4191000"/>
            <a:ext cx="6514073" cy="18249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08000"/>
            <a:ext cx="886829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识别场景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6900" y="508000"/>
            <a:ext cx="106781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可执行方案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2600" y="508000"/>
            <a:ext cx="54253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7700"/>
            <a:ext cx="106643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6900" y="647700"/>
            <a:ext cx="106643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2600" y="647700"/>
            <a:ext cx="106643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615" y="2006649"/>
            <a:ext cx="375920" cy="160466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供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应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商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模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具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周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期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管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5415" y="2003276"/>
            <a:ext cx="375920" cy="103048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</a:t>
            </a:r>
          </a:p>
          <a:p>
            <a:pPr algn="ctr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辅</a:t>
            </a:r>
          </a:p>
          <a:p>
            <a:pPr algn="ctr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助</a:t>
            </a:r>
          </a:p>
          <a:p>
            <a:pPr algn="ctr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3D</a:t>
            </a:r>
          </a:p>
          <a:p>
            <a:pPr algn="ctr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内</a:t>
            </a:r>
          </a:p>
          <a:p>
            <a:pPr algn="ctr">
              <a:lnSpc>
                <a:spcPts val="1352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1215" y="2006649"/>
            <a:ext cx="375920" cy="106977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飞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书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使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用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诊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7015" y="2000001"/>
            <a:ext cx="375920" cy="8914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兴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趣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活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2815" y="2008286"/>
            <a:ext cx="375920" cy="15751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第</a:t>
            </a:r>
          </a:p>
          <a:p>
            <a:pPr algn="ctr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4</a:t>
            </a:r>
          </a:p>
          <a:p>
            <a:pPr algn="ctr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期</a:t>
            </a:r>
          </a:p>
          <a:p>
            <a:pPr algn="ctr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汇</a:t>
            </a:r>
          </a:p>
          <a:p>
            <a:pPr algn="ctr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报</a:t>
            </a:r>
          </a:p>
          <a:p>
            <a:pPr algn="ctr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列</a:t>
            </a:r>
          </a:p>
          <a:p>
            <a:pPr algn="ctr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到</a:t>
            </a:r>
          </a:p>
          <a:p>
            <a:pPr algn="ctr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9</a:t>
            </a:r>
          </a:p>
          <a:p>
            <a:pPr algn="ctr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915" y="2006649"/>
            <a:ext cx="375920" cy="160466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G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T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M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三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步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走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M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V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715" y="2000001"/>
            <a:ext cx="375920" cy="124807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3D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内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容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实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测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建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8515" y="2000001"/>
            <a:ext cx="375920" cy="124807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兴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趣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活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动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方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2615" y="2006649"/>
            <a:ext cx="375920" cy="106977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美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区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库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存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看</a:t>
            </a:r>
          </a:p>
          <a:p>
            <a:pPr algn="ctr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104830"/>
            <a:ext cx="763778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 spc="44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美区库存看板（PoC），双周汇报第 2 期截图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936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景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挖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8840" y="491232"/>
            <a:ext cx="1280160" cy="473868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3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项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线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达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514350"/>
            <a:ext cx="23845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PoC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796230"/>
            <a:ext cx="241503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美区库存看板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0" y="1071760"/>
            <a:ext cx="241503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多维表格做的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0" y="1347291"/>
            <a:ext cx="241503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定时自动同步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1622821"/>
            <a:ext cx="241503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时间见截图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口径：目标跟踪表 9-30 版；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第 4 期汇报场景列到 9 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96900"/>
            <a:ext cx="11912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专利创新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58900"/>
            <a:ext cx="92838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 项都是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5065" y="791269"/>
            <a:ext cx="166776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按计划应在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5065" y="1012229"/>
            <a:ext cx="166776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9/21–10/20 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5065" y="1258589"/>
            <a:ext cx="1688083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错过了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46300"/>
            <a:ext cx="76911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星际圈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451100"/>
            <a:ext cx="1740737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内容 12+ 篇（10 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679700"/>
            <a:ext cx="1740737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成员数没统计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4090" y="2089150"/>
            <a:ext cx="99910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8/7 上线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4090" y="2302470"/>
            <a:ext cx="99910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当周发 3 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8255" y="2216150"/>
            <a:ext cx="155235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9/25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建圈节点逾期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1766" y="3092450"/>
            <a:ext cx="1649333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10/23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自评运营断档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3091" y="3746500"/>
            <a:ext cx="393481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8/1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1687" y="3746500"/>
            <a:ext cx="393481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9/1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2700" y="3746500"/>
            <a:ext cx="47952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10/1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9419" y="3746500"/>
            <a:ext cx="56557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10/27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419600"/>
            <a:ext cx="358607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权重：前三项合计 80%，专利、星际圈各 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283200"/>
            <a:ext cx="75558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VOC 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8200" y="5283200"/>
            <a:ext cx="106290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 提效 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5283200"/>
            <a:ext cx="102604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场景挖掘 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283200"/>
            <a:ext cx="75172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2E4A7D"/>
                </a:solidFill>
                <a:latin typeface="PingFang SC"/>
                <a:ea typeface="PingFang SC"/>
                <a:cs typeface="PingFang SC"/>
              </a:rPr>
              <a:t>专利 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4350" y="5283200"/>
            <a:ext cx="88888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星际圈 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9360" y="508024"/>
            <a:ext cx="1280160" cy="355371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专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利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AI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没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启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8840" y="508000"/>
            <a:ext cx="1280160" cy="296167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星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际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圈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断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000" y="514350"/>
            <a:ext cx="23845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原因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796230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精力放在权重 80% 的三项上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0" y="1040010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这是我排的优先级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0" y="1563191"/>
            <a:ext cx="23845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补救（计划，待确认）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0" y="1845071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专利 GTM 11 月启动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0" y="2088852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星际圈每双周 1 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000" y="2332632"/>
            <a:ext cx="23947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成员到 30 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口径：目标跟踪表 9-30 版；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12+ 篇是 10 月的数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35600" y="2794000"/>
            <a:ext cx="2801620" cy="882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48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77</a:t>
            </a:r>
            <a:r>
              <a:rPr sz="1400" b="1" i="0" u="none" spc="28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篇是我写的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76900" y="3651250"/>
            <a:ext cx="834517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其他 2 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35600" y="3928070"/>
            <a:ext cx="24358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知识库主空间共 79 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2400" y="4476750"/>
            <a:ext cx="166133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经营指标方法论 4 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2400" y="4690070"/>
            <a:ext cx="166133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10/9 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83150" y="4476750"/>
            <a:ext cx="231241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飞书 AI 使用诊断 3 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3150" y="4690070"/>
            <a:ext cx="231241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8/6、8/17、10/21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3150" y="4903390"/>
            <a:ext cx="231241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提出按场景分配额度，待反馈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2400" y="5281810"/>
            <a:ext cx="242289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usmile-ui 组件库 v0.2.0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2400" y="5495131"/>
            <a:ext cx="242289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10/22，内部系统共用一套前端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3150" y="5281810"/>
            <a:ext cx="260141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集团目标驾驶舱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3150" y="5495131"/>
            <a:ext cx="260141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9/9 上线，后来并入工作反馈系统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988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指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标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以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9360" y="523366"/>
            <a:ext cx="1280160" cy="280801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一</a:t>
            </a:r>
          </a:p>
          <a:p>
            <a:pPr algn="ctr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份</a:t>
            </a:r>
          </a:p>
          <a:p>
            <a:pPr algn="ctr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sz="3696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IT</a:t>
            </a:r>
          </a:p>
          <a:p>
            <a:pPr algn="ctr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规</a:t>
            </a:r>
          </a:p>
          <a:p>
            <a:pPr algn="ctr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8840" y="491232"/>
            <a:ext cx="1280160" cy="414635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77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篇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知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识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库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文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最大的一块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5400" y="81528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IT 建设规划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5400" y="104388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2026–2028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5400" y="127883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讨论稿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5400" y="152261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10/9 成稿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5400" y="176639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下一页接着讲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5400" y="2314971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怎么读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5400" y="2622252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一格＝一篇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0" y="2866032"/>
            <a:ext cx="666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我写的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4000" y="3109813"/>
            <a:ext cx="9956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其他人写的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口径：知识库按创建人统计，10-26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8950"/>
            <a:ext cx="2898259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IT 每年花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12080"/>
            <a:ext cx="3274179" cy="882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48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约</a:t>
            </a:r>
            <a:r>
              <a:rPr sz="4800" b="1" i="0" u="none" spc="-48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2,700 </a:t>
            </a:r>
            <a:r>
              <a:rPr sz="2400" b="1" i="0" u="none" spc="-48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50280"/>
            <a:ext cx="290841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管着 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60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个系统、约 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30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家厂商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0460" y="1676400"/>
            <a:ext cx="13385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没有主线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9960" y="1676400"/>
            <a:ext cx="13385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没有收口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39460" y="1676400"/>
            <a:ext cx="13385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没有按产品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460" y="1882080"/>
            <a:ext cx="13385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负责的组织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01850"/>
            <a:ext cx="143000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看到的六个现象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476500"/>
            <a:ext cx="1252474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b="1" i="0" u="none" spc="30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系统多而散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035300"/>
            <a:ext cx="1462393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b="1" i="0" u="none" spc="30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交付不被信任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594100"/>
            <a:ext cx="1882124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b="1" i="0" u="none" spc="30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员工的声音没人接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52900"/>
            <a:ext cx="1301444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b="1" i="0" u="none" spc="30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 用不起来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711700"/>
            <a:ext cx="2511667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b="1" i="0" u="none" spc="30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同一件事买几遍、做几遍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270500"/>
            <a:ext cx="256053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b="1" i="0" u="none" spc="30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 工具的钱花在报销单里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360" y="508000"/>
            <a:ext cx="1280160" cy="355401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做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来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的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东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8840" y="508000"/>
            <a:ext cx="1280160" cy="414635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没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信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也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没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4200" y="514350"/>
            <a:ext cx="243941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AI 渗透率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4200" y="745430"/>
            <a:ext cx="2571496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24.2%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4200" y="1202630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同规模飞书客户里最低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4200" y="1446410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对照客户 46%–73%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4200" y="1994991"/>
            <a:ext cx="243941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钱和额度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4200" y="2302271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员工自己买 AI 工具再报销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4200" y="2546052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公司付费的飞书 AI 额度却闲着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口径：IT 规划原文第 1 章，左图按其图 5 重画；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对照客户 46%–73% 取飞书 9 月诊断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673100"/>
            <a:ext cx="5544724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b="1" i="0" u="none" spc="30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主线：让「目标 → 项目 → 执行 → 结果」看得见、管得住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1384300"/>
            <a:ext cx="584803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 spc="28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2543" y="1400175"/>
            <a:ext cx="2120177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飞书 ＋ 员工自选的 AI 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4700" y="2066925"/>
            <a:ext cx="2273264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 spc="28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内部业务系统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" y="2371725"/>
            <a:ext cx="225294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外采为主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7233" y="2066925"/>
            <a:ext cx="2273371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 spc="28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AI 原生自研应用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7233" y="2371725"/>
            <a:ext cx="2253051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自研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9866" y="2066925"/>
            <a:ext cx="2273264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 spc="28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业务自建轻应用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9866" y="2371725"/>
            <a:ext cx="225294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业务自建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022600"/>
            <a:ext cx="1199772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 spc="28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Agent 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1960" y="3038475"/>
            <a:ext cx="132486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自研，基于开源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619500"/>
            <a:ext cx="1172448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 spc="28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公司上下文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6659" y="3635375"/>
            <a:ext cx="50190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自研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216400"/>
            <a:ext cx="97656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 spc="28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数据底座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5287" y="4232275"/>
            <a:ext cx="9956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自研，在建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908550"/>
            <a:ext cx="763778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买还是建，按属于哪一层定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5196780"/>
            <a:ext cx="83108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通用的买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2000" y="5196780"/>
            <a:ext cx="165404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公司特有的只建一个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9700" y="5196780"/>
            <a:ext cx="181863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长尾小场景业务自己搭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9880" y="461912"/>
            <a:ext cx="1280160" cy="168473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421"/>
              </a:lnSpc>
              <a:spcBef>
                <a:spcPts val="0"/>
              </a:spcBef>
              <a:spcAft>
                <a:spcPts val="0"/>
              </a:spcAft>
            </a:pPr>
            <a:r>
              <a:rPr sz="3696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IT</a:t>
            </a:r>
          </a:p>
          <a:p>
            <a:pPr algn="ctr">
              <a:lnSpc>
                <a:spcPts val="442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先</a:t>
            </a:r>
          </a:p>
          <a:p>
            <a:pPr algn="ctr">
              <a:lnSpc>
                <a:spcPts val="442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9360" y="508000"/>
            <a:ext cx="1280160" cy="296167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第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一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个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客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8840" y="508000"/>
            <a:ext cx="1280160" cy="296167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先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治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好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自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为什么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5400" y="82163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IT 自己的毛病，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5400" y="106541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就是公司信息化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5400" y="130919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要解的问题。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5400" y="155297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先治好自己，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5400" y="1796752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再推全公司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5400" y="2319932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先做三件事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5400" y="2627213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所有项目统一跟进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5400" y="2947193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自研系统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5400" y="3190974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从项目变成产品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5400" y="3510954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建公司自己的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5400" y="3754735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Agent 平台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5400" y="4277915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全文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5400" y="4585196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《IT 建设规划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5400" y="4828976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2026–2028》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5400" y="5072757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讨论稿 v2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5400" y="5316537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在知识库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口径：IT 规划原文第 3 章，左图按其图 1 蓝图重画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8950"/>
            <a:ext cx="2956560" cy="292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企业 AI 中台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35620"/>
            <a:ext cx="29159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Agent 平台落地后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064220"/>
            <a:ext cx="29159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员工看到的样子（设计中）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9734" y="1085254"/>
            <a:ext cx="1221232" cy="330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8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一个门户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7917" y="1454745"/>
            <a:ext cx="132486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从飞书工作台进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3064569"/>
            <a:ext cx="329285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会用 AI 编程的人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3378200"/>
            <a:ext cx="327253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在自己的 Claude Code、Codex 里，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3614340"/>
            <a:ext cx="327253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一句话发布应用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5000" y="3182639"/>
            <a:ext cx="329285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不会的人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5000" y="3496270"/>
            <a:ext cx="327253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在网页里对话，也能做出应用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4860329"/>
            <a:ext cx="7160259" cy="330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一份数据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" y="5229820"/>
            <a:ext cx="709930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所有应用读同一份飞书数据和业务库，谁能看什么由平台统一管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988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一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个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9360" y="508012"/>
            <a:ext cx="1280160" cy="177693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两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条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884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一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份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数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为什么自己建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5400" y="82163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业务 SOP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5400" y="106541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是公司的打法，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5400" y="130919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装进外采平台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5400" y="155297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就带不走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5400" y="2076152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怎么建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5400" y="2383432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底层基于开源搭，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5400" y="2627213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我们只写公司规矩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5400" y="2870993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和业务技能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口径：企业 AI 中台设计记录，2026-10-13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49400" y="647700"/>
            <a:ext cx="464895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9/28–29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CEO 列 5 个产品方向，又列 CEO 工作台先做 5 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2200" y="1384300"/>
            <a:ext cx="390850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会议看板 v2.0 上线；CEO 9/30 之后没再打开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76500"/>
            <a:ext cx="586400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10/1–10/12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CEO 先后发来多份 HTML 原型；口腔品牌经营看板 10/10 到 V50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5000" y="3213100"/>
            <a:ext cx="382878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10/3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CEO：问题要先锐利清晰，「反而在卷交互」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1596" y="3949700"/>
            <a:ext cx="3352903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10/10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看板方案讨论会：先定义问题再开发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4423" y="4686300"/>
            <a:ext cx="40532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10/14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群里定三方分工；18:03 拍板 CEO 工作台方向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136" y="5473700"/>
            <a:ext cx="48799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1336" y="5473700"/>
            <a:ext cx="48799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4136" y="5473700"/>
            <a:ext cx="48799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110" y="5473700"/>
            <a:ext cx="57693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6910" y="5473700"/>
            <a:ext cx="57693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0660" y="5473700"/>
            <a:ext cx="576933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988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三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方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分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9360" y="508000"/>
            <a:ext cx="1280160" cy="355401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是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从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需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求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不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8840" y="508000"/>
            <a:ext cx="1280160" cy="473868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期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长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里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来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颜色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39400" y="815280"/>
            <a:ext cx="1032863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 发来的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9400" y="1043880"/>
            <a:ext cx="9956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方向和原型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9400" y="1361380"/>
            <a:ext cx="50190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上线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9400" y="1678880"/>
            <a:ext cx="9956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先定问题，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9400" y="1907480"/>
            <a:ext cx="83108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再定分工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口径：CEO 群消息、每日记录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1610360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33650" y="914400"/>
            <a:ext cx="1610360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57700" y="685800"/>
            <a:ext cx="1610360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8100" y="1143000"/>
            <a:ext cx="1610360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30400"/>
            <a:ext cx="20447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业务助理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24980"/>
            <a:ext cx="20243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发现业务痛点，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453580"/>
            <a:ext cx="20243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定义问题和指标，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682180"/>
            <a:ext cx="20243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出产品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3650" y="1930400"/>
            <a:ext cx="20447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3650" y="2224980"/>
            <a:ext cx="20243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确认需求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700" y="1930400"/>
            <a:ext cx="20447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7700" y="2224980"/>
            <a:ext cx="20243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数据打通，产品实现，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700" y="2453580"/>
            <a:ext cx="20243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发现好产品推广赋能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8100" y="1930400"/>
            <a:ext cx="142748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业务助理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8100" y="2224980"/>
            <a:ext cx="14071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产品化之后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100" y="2453580"/>
            <a:ext cx="14071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看活跃、看迭代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100" y="2682180"/>
            <a:ext cx="14071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升级产品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536950"/>
            <a:ext cx="124891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分工之后两周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699000"/>
            <a:ext cx="152663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927600"/>
            <a:ext cx="152663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 在群里定分工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650" y="4699000"/>
            <a:ext cx="264160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6590" y="4927600"/>
            <a:ext cx="189279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工作反馈系统按 CEO 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5207" y="5156200"/>
            <a:ext cx="133268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Demo 改版上线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0" y="3860800"/>
            <a:ext cx="116027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6000" y="4089400"/>
            <a:ext cx="116027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时间管理上线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2340" y="4699000"/>
            <a:ext cx="27787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7335" y="4927600"/>
            <a:ext cx="149438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上午 10:54 提需求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4935" y="5156200"/>
            <a:ext cx="1658977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下午 16:52 交付验收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988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我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负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责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9360" y="508000"/>
            <a:ext cx="1280160" cy="355401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确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认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过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的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需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884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做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成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产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还下不了结论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5400" y="82163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是不是分工带来的，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5400" y="106541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时间还短，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5400" y="130919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下不了结论。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5400" y="155297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现在当试验田在跑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5400" y="2101552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分工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5400" y="2408832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5400" y="2652613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 在群里定，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5400" y="2896393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我负责第 3 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口径：10/14 CEO 群消息原文；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交付时间取应用发布记录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7100" y="495300"/>
            <a:ext cx="96113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业务助理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219200"/>
            <a:ext cx="18872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8/16 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68040"/>
            <a:ext cx="18872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带她搭 CEO 知识助理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7600" y="1219200"/>
            <a:ext cx="18872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8/31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7600" y="1468040"/>
            <a:ext cx="18872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一起拆成多个智能体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5600" y="1219200"/>
            <a:ext cx="30530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5600" y="1468040"/>
            <a:ext cx="30530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分工里由她出产品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7100" y="1955800"/>
            <a:ext cx="192125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战略运营、战略招聘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679700"/>
            <a:ext cx="38760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战略运营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928540"/>
            <a:ext cx="38760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用 AI 搭了可视化的经营管理平台、数据同步平台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5600" y="2679700"/>
            <a:ext cx="38074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战略招聘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5600" y="2928540"/>
            <a:ext cx="38074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用 AI 管自己的日常，面试纪要自动整理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100" y="3416300"/>
            <a:ext cx="96113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新手手册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140200"/>
            <a:ext cx="49733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8/19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389040"/>
            <a:ext cx="49733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写了 13 章，发给 SKY、业务助理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100" y="4876800"/>
            <a:ext cx="593054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600700"/>
            <a:ext cx="38760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10/1–10/19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849540"/>
            <a:ext cx="387604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作为需求方，陆续发来 5 份 HTML 原型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5600" y="5600700"/>
            <a:ext cx="38074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5600" y="5849540"/>
            <a:ext cx="38074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指引：《公司能力平台》发给财务、法务、行政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988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能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力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外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936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身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边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的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8840" y="508024"/>
            <a:ext cx="1280160" cy="355371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用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3696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AI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快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起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来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怎么记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5400" y="82163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左边只记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5400" y="106541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看得见的行为；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5400" y="130919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战略运营、招聘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5400" y="155297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两条没记日期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5400" y="2101552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CEO 原话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5400" y="2408832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「已经发给财务、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5400" y="2652613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法务，行政，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5400" y="2896393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热身开始做起来了」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5400" y="3190974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10/20 16:14 群消息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口径：CEO 群消息、每日记录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0"/>
            <a:ext cx="3436620" cy="292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8/17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053780"/>
            <a:ext cx="3599180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25280"/>
            <a:ext cx="34163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68.35 万点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46600" y="3810000"/>
            <a:ext cx="3436620" cy="292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46600" y="4002980"/>
            <a:ext cx="3761740" cy="882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48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58.70%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6600" y="4828480"/>
            <a:ext cx="34163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362.76 万点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9360" y="523366"/>
            <a:ext cx="1280160" cy="280801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飞</a:t>
            </a:r>
          </a:p>
          <a:p>
            <a:pPr algn="ctr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书</a:t>
            </a:r>
          </a:p>
          <a:p>
            <a:pPr algn="ctr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sz="3696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AI</a:t>
            </a:r>
          </a:p>
          <a:p>
            <a:pPr algn="ctr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额</a:t>
            </a:r>
          </a:p>
          <a:p>
            <a:pPr algn="ctr">
              <a:lnSpc>
                <a:spcPts val="4422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8840" y="508000"/>
            <a:ext cx="1280160" cy="355401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量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跟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着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上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74200" y="514350"/>
            <a:ext cx="243941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整圆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74200" y="745430"/>
            <a:ext cx="2571496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618</a:t>
            </a:r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万点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4200" y="1202630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飞书 AI 年度额度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0" y="1509910"/>
            <a:ext cx="148945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红色＝已经用掉的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4200" y="2033091"/>
            <a:ext cx="243941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飞书方的预计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4200" y="2340371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10/21 来访时说，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4200" y="2584152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按现在的速度：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4200" y="2827932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纪要专用额度 11 月初用完，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4200" y="3071713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通用点数 11 月底用完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4200" y="3594893"/>
            <a:ext cx="243941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其中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4200" y="3902174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aily 专业版 9/13–10/19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4200" y="4145954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约用掉 32 万点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口径：8/17 取飞书管理后台，10/23 取飞书诊断报告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8950"/>
            <a:ext cx="4465320" cy="292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《5 怎么省 token》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35620"/>
            <a:ext cx="44246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按我自己两个月的记录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91220"/>
            <a:ext cx="44450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大头在重读，不在打字和生成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3150" y="3352800"/>
            <a:ext cx="116466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自己打字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3150" y="3544490"/>
            <a:ext cx="1245945" cy="368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-20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约 26 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0200" y="2489200"/>
            <a:ext cx="1586861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AI 写出来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0200" y="2680890"/>
            <a:ext cx="1668141" cy="368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-20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约 1,600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5700" y="1803400"/>
            <a:ext cx="2716784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重读旧内容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700" y="2002730"/>
            <a:ext cx="3001264" cy="768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200" b="1" i="0" u="none" spc="-42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约 101 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022850"/>
            <a:ext cx="748334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单位：token。</a:t>
            </a:r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方块按数量级示意，不按比例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258990"/>
            <a:ext cx="748334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竖线落在下面的对数尺上，尺的每一格是前一格的 10 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988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正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沉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360" y="523378"/>
            <a:ext cx="1280160" cy="280789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42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用</a:t>
            </a:r>
          </a:p>
          <a:p>
            <a:pPr algn="ctr">
              <a:lnSpc>
                <a:spcPts val="4421"/>
              </a:lnSpc>
              <a:spcBef>
                <a:spcPts val="0"/>
              </a:spcBef>
              <a:spcAft>
                <a:spcPts val="0"/>
              </a:spcAft>
            </a:pPr>
            <a:r>
              <a:rPr sz="3696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AI</a:t>
            </a:r>
          </a:p>
          <a:p>
            <a:pPr algn="ctr">
              <a:lnSpc>
                <a:spcPts val="442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做</a:t>
            </a:r>
          </a:p>
          <a:p>
            <a:pPr algn="ctr">
              <a:lnSpc>
                <a:spcPts val="442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产</a:t>
            </a:r>
          </a:p>
          <a:p>
            <a:pPr algn="ctr">
              <a:lnSpc>
                <a:spcPts val="442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8840" y="508000"/>
            <a:ext cx="1280160" cy="355401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省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着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的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方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正在沉淀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5400" y="81528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《IT/AI 产品高效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5400" y="104388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开发方法论》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5400" y="134233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9/28 CEO 列为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5400" y="158611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最重要的产品；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5400" y="182989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10/21 开写；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5400" y="207367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首页和 8 篇有初稿；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5400" y="2317452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计划 10/30 补齐成文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5400" y="2840632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先推两个 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5400" y="3147913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新项目七步引导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5400" y="3391693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业务指标校准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口径：知识库《IT/AI 产品高效开发方法论》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《5 怎么省 token》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8950"/>
            <a:ext cx="1969008" cy="292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每月代码提交次数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900" y="873720"/>
            <a:ext cx="50190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整月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5600" y="873720"/>
            <a:ext cx="83108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不是整月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41489"/>
            <a:ext cx="1734820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24">
                <a:solidFill>
                  <a:srgbClr val="2E4A7D"/>
                </a:solidFill>
                <a:latin typeface="PingFang SC"/>
                <a:ea typeface="PingFang SC"/>
                <a:cs typeface="PingFang SC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0150" y="3722389"/>
            <a:ext cx="1734820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2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7050" y="1002109"/>
            <a:ext cx="1734820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24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541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7600" y="679450"/>
            <a:ext cx="1734820" cy="444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24">
                <a:solidFill>
                  <a:srgbClr val="2E4A7D"/>
                </a:solidFill>
                <a:latin typeface="PingFang SC"/>
                <a:ea typeface="PingFang SC"/>
                <a:cs typeface="PingFang SC"/>
              </a:rPr>
              <a:t>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67300"/>
            <a:ext cx="163322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7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330130"/>
            <a:ext cx="161290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2E4A7D"/>
                </a:solidFill>
                <a:latin typeface="PingFang SC"/>
                <a:ea typeface="PingFang SC"/>
                <a:cs typeface="PingFang SC"/>
              </a:rPr>
              <a:t>只算 22–31 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0150" y="5067300"/>
            <a:ext cx="163322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8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7050" y="5067300"/>
            <a:ext cx="163322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7600" y="5067300"/>
            <a:ext cx="163322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7600" y="5330130"/>
            <a:ext cx="161290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2E4A7D"/>
                </a:solidFill>
                <a:latin typeface="PingFang SC"/>
                <a:ea typeface="PingFang SC"/>
                <a:cs typeface="PingFang SC"/>
              </a:rPr>
              <a:t>截至 25 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8840" y="508000"/>
            <a:ext cx="1280160" cy="414635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三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个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月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代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码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提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8600" y="4648200"/>
            <a:ext cx="2663174" cy="882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48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1,305</a:t>
            </a:r>
            <a:r>
              <a:rPr sz="2000" b="1" i="0" u="none" spc="-48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0" y="514350"/>
            <a:ext cx="30703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上线发布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0" y="726380"/>
            <a:ext cx="3283712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225</a:t>
            </a:r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0" y="1304230"/>
            <a:ext cx="30805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妙搭 213 次 ＋ VOC 生产部署 12 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0000" y="1827410"/>
            <a:ext cx="30703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9 月起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0000" y="2134691"/>
            <a:ext cx="30805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每月 500 次以上，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000" y="2378471"/>
            <a:ext cx="30805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产品从 1 个变成 4 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2901652"/>
            <a:ext cx="30703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8 月打卡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0000" y="3208932"/>
            <a:ext cx="308051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259 小时，21 个工作日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口径：7/22–10/25，6 个仓库，按作者统计；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发布指本人账号操作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9500" y="495300"/>
            <a:ext cx="3402584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 会议看板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9500" y="662880"/>
            <a:ext cx="1228137" cy="882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48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2000" b="1" i="0" u="none" spc="-48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 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2371" y="1164530"/>
            <a:ext cx="54194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2 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9300" y="495300"/>
            <a:ext cx="3402584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工作反馈系统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9300" y="662880"/>
            <a:ext cx="1622472" cy="882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48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14</a:t>
            </a:r>
            <a:r>
              <a:rPr sz="2000" b="1" i="0" u="none" spc="-48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 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77296" y="1164530"/>
            <a:ext cx="54194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6 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79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47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65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83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01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19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7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7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45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63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581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99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17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3580" y="1905000"/>
            <a:ext cx="57404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247900"/>
            <a:ext cx="61518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9/21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2679700"/>
            <a:ext cx="61518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9/28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3111500"/>
            <a:ext cx="61518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10/5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3543300"/>
            <a:ext cx="61518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10/12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975100"/>
            <a:ext cx="61518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10/19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9500" y="4438650"/>
            <a:ext cx="338226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9/28、9/29 打开；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9500" y="4674790"/>
            <a:ext cx="338226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9/30 之后没再打开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9300" y="4438650"/>
            <a:ext cx="338226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最后一次 10/22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5435600"/>
            <a:ext cx="9956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那天打开过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59000" y="5435600"/>
            <a:ext cx="6664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没打开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36900" y="5435600"/>
            <a:ext cx="83108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没有记录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988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做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来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了</a:t>
            </a:r>
          </a:p>
        </p:txBody>
      </p:sp>
      <p:sp>
        <p:nvSpPr>
          <p:cNvPr id="34" name="TextBox 33"/>
          <p:cNvSpPr txBox="1"/>
          <p:nvPr/>
        </p:nvSpPr>
        <p:spPr>
          <a:xfrm rot="5400000">
            <a:off x="8037155" y="762595"/>
            <a:ext cx="1644570" cy="80010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/>
            <a:r>
              <a:rPr sz="4400" b="1" i="0" u="none" spc="264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CEO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9360" y="1988790"/>
            <a:ext cx="1280160" cy="118467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8840" y="508012"/>
            <a:ext cx="1280160" cy="177693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还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不</a:t>
            </a:r>
          </a:p>
          <a:p>
            <a:pPr algn="ctr">
              <a:lnSpc>
                <a:spcPts val="4663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累计用户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5400" y="118993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两个应用累计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5400" y="1433710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都是 3 人，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5400" y="167749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其中 2 人是开发者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5400" y="1921271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（实心）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5400" y="2469852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下一阶段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5400" y="2777132"/>
            <a:ext cx="16814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这是最要解决的事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口径：两个应用线上库访问记录，只读查询，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截至 10-25；工作反馈系统的记录 9/28 起才有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933450"/>
            <a:ext cx="4368800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40">
                <a:solidFill>
                  <a:srgbClr val="F2ECDF"/>
                </a:solidFill>
                <a:latin typeface="Songti SC"/>
                <a:ea typeface="Songti SC"/>
                <a:cs typeface="Songti SC"/>
              </a:rPr>
              <a:t>「前提还是问题足够锐利清晰，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344910"/>
            <a:ext cx="4368800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40">
                <a:solidFill>
                  <a:srgbClr val="F2ECDF"/>
                </a:solidFill>
                <a:latin typeface="Songti SC"/>
                <a:ea typeface="Songti SC"/>
                <a:cs typeface="Songti SC"/>
              </a:rPr>
              <a:t>其次指标选择清晰针对性强。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756370"/>
            <a:ext cx="4368800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40">
                <a:solidFill>
                  <a:srgbClr val="F2ECDF"/>
                </a:solidFill>
                <a:latin typeface="Songti SC"/>
                <a:ea typeface="Songti SC"/>
                <a:cs typeface="Songti SC"/>
              </a:rPr>
              <a:t>这两个是最困难，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2167830"/>
            <a:ext cx="4368800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40">
                <a:solidFill>
                  <a:srgbClr val="F2ECDF"/>
                </a:solidFill>
                <a:latin typeface="Songti SC"/>
                <a:ea typeface="Songti SC"/>
                <a:cs typeface="Songti SC"/>
              </a:rPr>
              <a:t>且一直没花时间想。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579290"/>
            <a:ext cx="4368800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40">
                <a:solidFill>
                  <a:srgbClr val="F2ECDF"/>
                </a:solidFill>
                <a:latin typeface="Songti SC"/>
                <a:ea typeface="Songti SC"/>
                <a:cs typeface="Songti SC"/>
              </a:rPr>
              <a:t>反而在卷交互。」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451350"/>
            <a:ext cx="428752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 spc="72">
                <a:solidFill>
                  <a:srgbClr val="F2ECDF"/>
                </a:solidFill>
                <a:latin typeface="PingFang SC"/>
                <a:ea typeface="PingFang SC"/>
                <a:cs typeface="PingFang SC"/>
              </a:rPr>
              <a:t>CEO 10/3 群消息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3700" y="2965450"/>
            <a:ext cx="2384552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改进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4200" y="3266380"/>
            <a:ext cx="2065527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每个产品先写清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4200" y="3494980"/>
            <a:ext cx="2065527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「解决谁的什么问题、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4200" y="3723580"/>
            <a:ext cx="2065527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用什么数衡量」，再做界面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4200" y="4041080"/>
            <a:ext cx="21478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每个产品定一个使用指标，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4200" y="4269680"/>
            <a:ext cx="21478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在双周汇报里报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4200" y="4587180"/>
            <a:ext cx="165404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目标表和进度表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4200" y="4815780"/>
            <a:ext cx="165404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跟双周汇报一起回填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9880" y="508000"/>
            <a:ext cx="1280160" cy="296167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问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题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和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指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936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想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得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不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8840" y="508000"/>
            <a:ext cx="1280160" cy="414635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是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我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最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大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的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短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5400" y="51435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不符合预期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1300" y="802580"/>
            <a:ext cx="1032863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 用得少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1300" y="1107380"/>
            <a:ext cx="118941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专利 AI 为 0，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1300" y="1335980"/>
            <a:ext cx="118941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星际圈断档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1300" y="1640780"/>
            <a:ext cx="99568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跟进不及时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1300" y="1869380"/>
            <a:ext cx="14101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奖金立项 10/13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1300" y="2097980"/>
            <a:ext cx="14101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到期未完成；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1300" y="2326580"/>
            <a:ext cx="14101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目标表 9-30 后、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1300" y="2555180"/>
            <a:ext cx="14101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进度表 10-10 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1300" y="2783780"/>
            <a:ext cx="141016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都没更新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5400" y="3272730"/>
            <a:ext cx="167132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符合预期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1300" y="3560960"/>
            <a:ext cx="116027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产品上线并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1300" y="3789560"/>
            <a:ext cx="116027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持续迭代，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01300" y="4018160"/>
            <a:ext cx="116027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需求当天交付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1300" y="4322960"/>
            <a:ext cx="1163701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场景挖掘 3 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1300" y="4551560"/>
            <a:ext cx="1163701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基线全部达到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口径：CEO 10/3 21:49 群消息原文；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奖金立项逾期取飞书任务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15950"/>
            <a:ext cx="231902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M4 场景放量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2650"/>
            <a:ext cx="229870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10/21–11/20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8800" y="615950"/>
            <a:ext cx="2209291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M5 超预期冲刺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8800" y="882650"/>
            <a:ext cx="218897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11/21–12/20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615950"/>
            <a:ext cx="240131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M6 收官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882650"/>
            <a:ext cx="238099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12/21–1/21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4600" y="1498600"/>
            <a:ext cx="912868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10/27 述职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1835150"/>
            <a:ext cx="221051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10/30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CEO 工作台正式上线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70410"/>
            <a:ext cx="151495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10/30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方法论成文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505670"/>
            <a:ext cx="161290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11/8</a:t>
            </a:r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 VOC 正式上线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840930"/>
            <a:ext cx="125339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专利 GTM 启动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061890"/>
            <a:ext cx="124323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日期待确认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9600" y="1835150"/>
            <a:ext cx="15264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VOC 场景补到 3 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9600" y="2056110"/>
            <a:ext cx="1516264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日期待确认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9600" y="2372915"/>
            <a:ext cx="1492885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专利 3 个案例验证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9600" y="2593875"/>
            <a:ext cx="1482725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日期待确认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9600" y="2910681"/>
            <a:ext cx="1657477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星际圈每双周 1 篇，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9600" y="3131641"/>
            <a:ext cx="1092977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成员到 30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9600" y="3352601"/>
            <a:ext cx="1647317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日期待确认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4800" y="1835150"/>
            <a:ext cx="165404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各产品使用指标复盘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4800" y="2170410"/>
            <a:ext cx="831088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转正答辩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400" y="4229100"/>
            <a:ext cx="231902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用起来怎么算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400" y="4517330"/>
            <a:ext cx="229870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每个产品都要有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4730650"/>
            <a:ext cx="229870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一个能看的数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9600" y="4286250"/>
            <a:ext cx="181863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CEO 工作台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9600" y="4507210"/>
            <a:ext cx="181863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目标使用者连续两周，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9600" y="4728170"/>
            <a:ext cx="1818639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每周至少打开 1 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84800" y="4286250"/>
            <a:ext cx="148945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每个产品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84800" y="4507210"/>
            <a:ext cx="148945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定一个使用指标，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4800" y="4728170"/>
            <a:ext cx="148945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在双周汇报里报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936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从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做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出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8840" y="508000"/>
            <a:ext cx="1280160" cy="23693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到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用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起</a:t>
            </a:r>
          </a:p>
          <a:p>
            <a:pPr algn="ctr">
              <a:lnSpc>
                <a:spcPts val="4664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4200" y="514350"/>
            <a:ext cx="243941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全部是计划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0" y="821630"/>
            <a:ext cx="1983232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描边＝计划，都还没完成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4200" y="1344810"/>
            <a:ext cx="2439416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00" b="1" i="0" u="none" spc="220">
                <a:solidFill>
                  <a:srgbClr val="D9381E"/>
                </a:solidFill>
                <a:latin typeface="PingFang SC"/>
                <a:ea typeface="PingFang SC"/>
                <a:cs typeface="PingFang SC"/>
              </a:rPr>
              <a:t>日期待确认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4200" y="1652091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专利、星际圈「11 月启动，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4200" y="1895871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12 月底验证」，VOC 场景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74200" y="2139652"/>
            <a:ext cx="2449576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1B1B1B"/>
                </a:solidFill>
                <a:latin typeface="PingFang SC"/>
                <a:ea typeface="PingFang SC"/>
                <a:cs typeface="PingFang SC"/>
              </a:rPr>
              <a:t>和优化的日期，都还没定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8600" y="54927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口径：阶段取目标跟踪表里程碑 M4–M6；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8600" y="57213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上线日期取第 4 期双周汇报；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8600" y="5949950"/>
            <a:ext cx="4205224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48">
                <a:solidFill>
                  <a:srgbClr val="57514A"/>
                </a:solidFill>
                <a:latin typeface="PingFang SC"/>
                <a:ea typeface="PingFang SC"/>
                <a:cs typeface="PingFang SC"/>
              </a:rPr>
              <a:t>「用起来怎么算」取述职报告第四、五章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98795" y="952500"/>
            <a:ext cx="2194560" cy="308610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sz="75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善</a:t>
            </a:r>
          </a:p>
          <a:p>
            <a:pPr algn="ctr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sz="75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战</a:t>
            </a:r>
          </a:p>
          <a:p>
            <a:pPr algn="ctr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sz="75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08170" y="952500"/>
            <a:ext cx="2194560" cy="514350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sz="75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无</a:t>
            </a:r>
          </a:p>
          <a:p>
            <a:pPr algn="ctr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sz="75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赫</a:t>
            </a:r>
          </a:p>
          <a:p>
            <a:pPr algn="ctr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sz="75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赫</a:t>
            </a:r>
          </a:p>
          <a:p>
            <a:pPr algn="ctr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sz="75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之</a:t>
            </a:r>
          </a:p>
          <a:p>
            <a:pPr algn="ctr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sz="7500" b="1" i="0" u="none">
                <a:solidFill>
                  <a:srgbClr val="1B1B1B"/>
                </a:solidFill>
                <a:latin typeface="Songti SC"/>
                <a:ea typeface="Songti SC"/>
                <a:cs typeface="Songti SC"/>
              </a:rPr>
              <a:t>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